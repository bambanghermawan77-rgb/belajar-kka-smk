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4bcf8de8-43da-96fe-fdbe-77aca1d747d6}">
          <p14:sldIdLst>
            <p14:sldId id="256"/>
            <p14:sldId id="257"/>
          </p14:sldIdLst>
        </p14:section>
        <p14:section name="Konsep" id="{3d121a9b-dc4a-bab5-3731-035b85e3d8e3}">
          <p14:sldIdLst>
            <p14:sldId id="258"/>
            <p14:sldId id="259"/>
            <p14:sldId id="260"/>
            <p14:sldId id="261"/>
            <p14:sldId id="262"/>
          </p14:sldIdLst>
        </p14:section>
        <p14:section name="Praktik" id="{dde1db0d-5f6b-31fe-641d-1820e89f565e}">
          <p14:sldIdLst>
            <p14:sldId id="263"/>
            <p14:sldId id="264"/>
          </p14:sldIdLst>
        </p14:section>
        <p14:section name="Penutup" id="{4e2e756c-368c-9c0d-a6ff-409fa0b827ee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5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371600"/>
            <a:ext cx="60350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28800"/>
            <a:ext cx="60350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3891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35"/>
                </a:solidFill>
              </a:rPr>
              <a:t>DKV · Broadcasting &amp; Perfilman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B2A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5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1F5"/>
                </a:solidFill>
              </a:rPr>
              <a:t>DKV · Broadcasting &amp; Perfilman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3F1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B2A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371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BAHAN AJAR AI — KELAS X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288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Prompt Engineering untuk Broadcasting &amp; Perfilman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3891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Berkomunikasi dengan AI untuk produksi media</a:t>
            </a:r>
            <a:endParaRPr lang="en-US" sz="2000" dirty="0"/>
          </a:p>
        </p:txBody>
      </p:sp>
      <p:sp>
        <p:nvSpPr>
          <p:cNvPr id="5" name="Cover footer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Desain Komunikasi Visual · Konsentrasi Broadcasting &amp; Perfilman</a:t>
            </a:r>
            <a:endParaRPr lang="en-US" sz="1400" dirty="0"/>
          </a:p>
        </p:txBody>
      </p:sp>
      <p:sp>
        <p:nvSpPr>
          <p:cNvPr id="6" name="Monitor frame"/>
          <p:cNvSpPr/>
          <p:nvPr/>
        </p:nvSpPr>
        <p:spPr>
          <a:xfrm>
            <a:off x="7223760" y="1097280"/>
            <a:ext cx="4480560" cy="4663440"/>
          </a:xfrm>
          <a:prstGeom prst="roundRect">
            <a:avLst>
              <a:gd name="adj" fmla="val 5102"/>
            </a:avLst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7" name="REC dot"/>
          <p:cNvSpPr/>
          <p:nvPr/>
        </p:nvSpPr>
        <p:spPr>
          <a:xfrm>
            <a:off x="7589520" y="14813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REC label"/>
          <p:cNvSpPr txBox="1"/>
          <p:nvPr/>
        </p:nvSpPr>
        <p:spPr>
          <a:xfrm>
            <a:off x="7882128" y="1417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bg1"/>
                </a:solidFill>
              </a:rPr>
              <a:t>REC</a:t>
            </a:r>
            <a:endParaRPr lang="en-US" sz="1600" dirty="0"/>
          </a:p>
        </p:txBody>
      </p:sp>
      <p:sp>
        <p:nvSpPr>
          <p:cNvPr id="9" name="ON AIR label"/>
          <p:cNvSpPr txBox="1"/>
          <p:nvPr/>
        </p:nvSpPr>
        <p:spPr>
          <a:xfrm>
            <a:off x="10058400" y="14173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ON AIR</a:t>
            </a:r>
            <a:endParaRPr lang="en-US" sz="1400" dirty="0"/>
          </a:p>
        </p:txBody>
      </p:sp>
      <p:sp>
        <p:nvSpPr>
          <p:cNvPr id="10" name="Icon mic bg"/>
          <p:cNvSpPr/>
          <p:nvPr/>
        </p:nvSpPr>
        <p:spPr>
          <a:xfrm>
            <a:off x="7863840" y="228600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mic" descr="Icon m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4" y="2615184"/>
            <a:ext cx="713232" cy="713232"/>
          </a:xfrm>
          <a:prstGeom prst="rect">
            <a:avLst/>
          </a:prstGeom>
        </p:spPr>
      </p:pic>
      <p:sp>
        <p:nvSpPr>
          <p:cNvPr id="12" name="Icon video bg"/>
          <p:cNvSpPr/>
          <p:nvPr/>
        </p:nvSpPr>
        <p:spPr>
          <a:xfrm>
            <a:off x="9692640" y="2286000"/>
            <a:ext cx="1371600" cy="13716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 video" descr="Icon 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824" y="2615184"/>
            <a:ext cx="713232" cy="713232"/>
          </a:xfrm>
          <a:prstGeom prst="rect">
            <a:avLst/>
          </a:prstGeom>
        </p:spPr>
      </p:pic>
      <p:sp>
        <p:nvSpPr>
          <p:cNvPr id="14" name="Icon film bg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 film" descr="Icon fil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4352544"/>
            <a:ext cx="713232" cy="713232"/>
          </a:xfrm>
          <a:prstGeom prst="rect">
            <a:avLst/>
          </a:prstGeom>
        </p:spPr>
      </p:pic>
      <p:sp>
        <p:nvSpPr>
          <p:cNvPr id="16" name="Icon news bg"/>
          <p:cNvSpPr/>
          <p:nvPr/>
        </p:nvSpPr>
        <p:spPr>
          <a:xfrm>
            <a:off x="9692640" y="402336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 news" descr="Icon new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824" y="435254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PEMBUKA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Tujuan Pembelajaran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Setelah pembelajaran ini, siswa mampu…</a:t>
            </a:r>
            <a:endParaRPr lang="en-US" sz="1600" dirty="0"/>
          </a:p>
        </p:txBody>
      </p:sp>
      <p:sp>
        <p:nvSpPr>
          <p:cNvPr id="5" name="Card tujuan 01"/>
          <p:cNvSpPr/>
          <p:nvPr/>
        </p:nvSpPr>
        <p:spPr>
          <a:xfrm>
            <a:off x="548640" y="1783080"/>
            <a:ext cx="53492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Nomor 01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omor teks 01"/>
          <p:cNvSpPr txBox="1"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Judul tujuan 01"/>
          <p:cNvSpPr txBox="1"/>
          <p:nvPr/>
        </p:nvSpPr>
        <p:spPr>
          <a:xfrm>
            <a:off x="1691640" y="20391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Memahami Prompt Engineering untuk Produksi Media</a:t>
            </a:r>
            <a:endParaRPr lang="en-US" sz="1900" dirty="0"/>
          </a:p>
        </p:txBody>
      </p:sp>
      <p:sp>
        <p:nvSpPr>
          <p:cNvPr id="9" name="Deskripsi tujuan 01"/>
          <p:cNvSpPr txBox="1"/>
          <p:nvPr/>
        </p:nvSpPr>
        <p:spPr>
          <a:xfrm>
            <a:off x="1691640" y="2743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Menjelaskan pengertian dan fungsi prompt dalam penggunaan AI untuk kebutuhan broadcasting dan perfilman.</a:t>
            </a:r>
            <a:endParaRPr lang="en-US" sz="1400" dirty="0"/>
          </a:p>
        </p:txBody>
      </p:sp>
      <p:sp>
        <p:nvSpPr>
          <p:cNvPr id="10" name="Card tujuan 02"/>
          <p:cNvSpPr/>
          <p:nvPr/>
        </p:nvSpPr>
        <p:spPr>
          <a:xfrm>
            <a:off x="6263640" y="1783080"/>
            <a:ext cx="53492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Nomor 02"/>
          <p:cNvSpPr/>
          <p:nvPr/>
        </p:nvSpPr>
        <p:spPr>
          <a:xfrm>
            <a:off x="6537960" y="20574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Nomor teks 02"/>
          <p:cNvSpPr txBox="1"/>
          <p:nvPr/>
        </p:nvSpPr>
        <p:spPr>
          <a:xfrm>
            <a:off x="6537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Judul tujuan 02"/>
          <p:cNvSpPr txBox="1"/>
          <p:nvPr/>
        </p:nvSpPr>
        <p:spPr>
          <a:xfrm>
            <a:off x="7406640" y="20391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Mengenali 5 Unsur Anatomi Prompt</a:t>
            </a:r>
            <a:endParaRPr lang="en-US" sz="1900" dirty="0"/>
          </a:p>
        </p:txBody>
      </p:sp>
      <p:sp>
        <p:nvSpPr>
          <p:cNvPr id="14" name="Deskripsi tujuan 02"/>
          <p:cNvSpPr txBox="1"/>
          <p:nvPr/>
        </p:nvSpPr>
        <p:spPr>
          <a:xfrm>
            <a:off x="7406640" y="2743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Memahami ROLE, TUGAS, KONTEKS, FORMAT, dan BATASAN dalam konteks naskah, video, dan film.</a:t>
            </a:r>
            <a:endParaRPr lang="en-US" sz="1400" dirty="0"/>
          </a:p>
        </p:txBody>
      </p:sp>
      <p:sp>
        <p:nvSpPr>
          <p:cNvPr id="15" name="Card tujuan 03"/>
          <p:cNvSpPr/>
          <p:nvPr/>
        </p:nvSpPr>
        <p:spPr>
          <a:xfrm>
            <a:off x="548640" y="3977640"/>
            <a:ext cx="53492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Nomor 03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Nomor teks 03"/>
          <p:cNvSpPr txBox="1"/>
          <p:nvPr/>
        </p:nvSpPr>
        <p:spPr>
          <a:xfrm>
            <a:off x="82296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Judul tujuan 03"/>
          <p:cNvSpPr txBox="1"/>
          <p:nvPr/>
        </p:nvSpPr>
        <p:spPr>
          <a:xfrm>
            <a:off x="1691640" y="42336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Menyusun &amp; Memperbaiki Prompt Produksi</a:t>
            </a:r>
            <a:endParaRPr lang="en-US" sz="1900" dirty="0"/>
          </a:p>
        </p:txBody>
      </p:sp>
      <p:sp>
        <p:nvSpPr>
          <p:cNvPr id="19" name="Deskripsi tujuan 03"/>
          <p:cNvSpPr txBox="1"/>
          <p:nvPr/>
        </p:nvSpPr>
        <p:spPr>
          <a:xfrm>
            <a:off x="1691640" y="4937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Membuat prompt untuk kebutuhan broadcasting &amp; perfilman dan memperbaikinya.</a:t>
            </a:r>
            <a:endParaRPr lang="en-US" sz="1400" dirty="0"/>
          </a:p>
        </p:txBody>
      </p:sp>
      <p:sp>
        <p:nvSpPr>
          <p:cNvPr id="20" name="Card tujuan 04"/>
          <p:cNvSpPr/>
          <p:nvPr/>
        </p:nvSpPr>
        <p:spPr>
          <a:xfrm>
            <a:off x="6263640" y="3977640"/>
            <a:ext cx="53492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Nomor 04"/>
          <p:cNvSpPr/>
          <p:nvPr/>
        </p:nvSpPr>
        <p:spPr>
          <a:xfrm>
            <a:off x="6537960" y="4251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Nomor teks 04"/>
          <p:cNvSpPr txBox="1"/>
          <p:nvPr/>
        </p:nvSpPr>
        <p:spPr>
          <a:xfrm>
            <a:off x="653796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Judul tujuan 04"/>
          <p:cNvSpPr txBox="1"/>
          <p:nvPr/>
        </p:nvSpPr>
        <p:spPr>
          <a:xfrm>
            <a:off x="7406640" y="42336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Proyek AI Bertanggung Jawab</a:t>
            </a:r>
            <a:endParaRPr lang="en-US" sz="1900" dirty="0"/>
          </a:p>
        </p:txBody>
      </p:sp>
      <p:sp>
        <p:nvSpPr>
          <p:cNvPr id="24" name="Deskripsi tujuan 04"/>
          <p:cNvSpPr txBox="1"/>
          <p:nvPr/>
        </p:nvSpPr>
        <p:spPr>
          <a:xfrm>
            <a:off x="7406640" y="4937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Membuat proyek produksi media menggunakan AI secara etis dan bertanggung jawab.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B2A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KONSEP DASAR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Apa Itu Prompt?</a:t>
            </a:r>
            <a:endParaRPr lang="en-US" sz="3400" dirty="0"/>
          </a:p>
        </p:txBody>
      </p:sp>
      <p:sp>
        <p:nvSpPr>
          <p:cNvPr id="4" name="Definisi prompt"/>
          <p:cNvSpPr txBox="1"/>
          <p:nvPr/>
        </p:nvSpPr>
        <p:spPr>
          <a:xfrm>
            <a:off x="548640" y="18745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Prompt adalah perintah atau instruksi yang kita berikan kepada AI untuk mendapatkan hasil tertentu.</a:t>
            </a:r>
            <a:endParaRPr lang="en-US" sz="2200" dirty="0"/>
          </a:p>
        </p:txBody>
      </p:sp>
      <p:sp>
        <p:nvSpPr>
          <p:cNvPr id="5" name="Callout tip"/>
          <p:cNvSpPr/>
          <p:nvPr/>
        </p:nvSpPr>
        <p:spPr>
          <a:xfrm>
            <a:off x="548640" y="3657600"/>
            <a:ext cx="484632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kon tip" descr="Ikon 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31920"/>
            <a:ext cx="457200" cy="457200"/>
          </a:xfrm>
          <a:prstGeom prst="rect">
            <a:avLst/>
          </a:prstGeom>
        </p:spPr>
      </p:pic>
      <p:sp>
        <p:nvSpPr>
          <p:cNvPr id="7" name="Teks tip"/>
          <p:cNvSpPr txBox="1"/>
          <p:nvPr/>
        </p:nvSpPr>
        <p:spPr>
          <a:xfrm>
            <a:off x="1508760" y="388620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Semakin jelas instruksi yang diberikan, semakin sesuai pula hasil yang diperoleh dari AI.</a:t>
            </a:r>
            <a:endParaRPr lang="en-US" sz="1700" dirty="0"/>
          </a:p>
        </p:txBody>
      </p:sp>
      <p:sp>
        <p:nvSpPr>
          <p:cNvPr id="8" name="Card prompt kurang jelas"/>
          <p:cNvSpPr/>
          <p:nvPr/>
        </p:nvSpPr>
        <p:spPr>
          <a:xfrm>
            <a:off x="5852160" y="1783080"/>
            <a:ext cx="5788152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kon salah" descr="Sala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39112"/>
            <a:ext cx="365760" cy="365760"/>
          </a:xfrm>
          <a:prstGeom prst="rect">
            <a:avLst/>
          </a:prstGeom>
        </p:spPr>
      </p:pic>
      <p:sp>
        <p:nvSpPr>
          <p:cNvPr id="10" name="Judul kurang jelas"/>
          <p:cNvSpPr txBox="1"/>
          <p:nvPr/>
        </p:nvSpPr>
        <p:spPr>
          <a:xfrm>
            <a:off x="6675120" y="2039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Prompt Kurang Jelas</a:t>
            </a:r>
            <a:endParaRPr lang="en-US" sz="1800" dirty="0"/>
          </a:p>
        </p:txBody>
      </p:sp>
      <p:sp>
        <p:nvSpPr>
          <p:cNvPr id="11" name="Contoh kurang jelas"/>
          <p:cNvSpPr txBox="1"/>
          <p:nvPr/>
        </p:nvSpPr>
        <p:spPr>
          <a:xfrm>
            <a:off x="6126480" y="26060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"Buat video berita."</a:t>
            </a:r>
            <a:endParaRPr lang="en-US" sz="1800" dirty="0"/>
          </a:p>
        </p:txBody>
      </p:sp>
      <p:sp>
        <p:nvSpPr>
          <p:cNvPr id="12" name="Card prompt lebih jelas"/>
          <p:cNvSpPr/>
          <p:nvPr/>
        </p:nvSpPr>
        <p:spPr>
          <a:xfrm>
            <a:off x="5852160" y="3657600"/>
            <a:ext cx="5788152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kon benar" descr="Ben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913632"/>
            <a:ext cx="365760" cy="365760"/>
          </a:xfrm>
          <a:prstGeom prst="rect">
            <a:avLst/>
          </a:prstGeom>
        </p:spPr>
      </p:pic>
      <p:sp>
        <p:nvSpPr>
          <p:cNvPr id="14" name="Judul lebih jelas"/>
          <p:cNvSpPr txBox="1"/>
          <p:nvPr/>
        </p:nvSpPr>
        <p:spPr>
          <a:xfrm>
            <a:off x="6675120" y="3913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Prompt Lebih Jelas</a:t>
            </a:r>
            <a:endParaRPr lang="en-US" sz="1800" dirty="0"/>
          </a:p>
        </p:txBody>
      </p:sp>
      <p:sp>
        <p:nvSpPr>
          <p:cNvPr id="15" name="Contoh lebih jelas"/>
          <p:cNvSpPr txBox="1"/>
          <p:nvPr/>
        </p:nvSpPr>
        <p:spPr>
          <a:xfrm>
            <a:off x="6126480" y="4480560"/>
            <a:ext cx="5257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"Buatkan naskah berita televisi 60 detik tentang pentingnya literasi digital untuk remaja, dengan bahasa baku yang mudah dipahami dan nada informatif."</a:t>
            </a:r>
            <a:endParaRPr lang="en-US" sz="1600" dirty="0"/>
          </a:p>
        </p:txBody>
      </p:sp>
      <p:sp>
        <p:nvSpPr>
          <p:cNvPr id="16" name="Text 0"/>
          <p:cNvSpPr/>
          <p:nvPr>
            <p:ph idx="102" type="body" hasCustomPrompt="1"/>
          </p:nvPr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B2A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ANATOMI PROMPT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Rumus R + T + K + F + B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Lima unsur utama yang membentuk prompt yang efektif dan terarah.</a:t>
            </a:r>
            <a:endParaRPr lang="en-US" sz="1600" dirty="0"/>
          </a:p>
        </p:txBody>
      </p:sp>
      <p:sp>
        <p:nvSpPr>
          <p:cNvPr id="5" name="Card ROLE"/>
          <p:cNvSpPr/>
          <p:nvPr/>
        </p:nvSpPr>
        <p:spPr>
          <a:xfrm>
            <a:off x="548640" y="1874520"/>
            <a:ext cx="2066544" cy="3520440"/>
          </a:xfrm>
          <a:prstGeom prst="roundRect">
            <a:avLst>
              <a:gd name="adj" fmla="val 53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Huruf bg R"/>
          <p:cNvSpPr/>
          <p:nvPr/>
        </p:nvSpPr>
        <p:spPr>
          <a:xfrm>
            <a:off x="1124712" y="21488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Huruf R"/>
          <p:cNvSpPr txBox="1"/>
          <p:nvPr/>
        </p:nvSpPr>
        <p:spPr>
          <a:xfrm>
            <a:off x="1124712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</a:t>
            </a:r>
            <a:endParaRPr lang="en-US" sz="3600" dirty="0"/>
          </a:p>
        </p:txBody>
      </p:sp>
      <p:sp>
        <p:nvSpPr>
          <p:cNvPr id="8" name="Nama ROLE"/>
          <p:cNvSpPr txBox="1"/>
          <p:nvPr/>
        </p:nvSpPr>
        <p:spPr>
          <a:xfrm>
            <a:off x="685800" y="32918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ROLE</a:t>
            </a:r>
            <a:endParaRPr lang="en-US" sz="1900" dirty="0"/>
          </a:p>
        </p:txBody>
      </p:sp>
      <p:sp>
        <p:nvSpPr>
          <p:cNvPr id="9" name="Sub ROLE"/>
          <p:cNvSpPr txBox="1"/>
          <p:nvPr/>
        </p:nvSpPr>
        <p:spPr>
          <a:xfrm>
            <a:off x="685800" y="36576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Peran</a:t>
            </a:r>
            <a:endParaRPr lang="en-US" sz="1400" dirty="0"/>
          </a:p>
        </p:txBody>
      </p:sp>
      <p:sp>
        <p:nvSpPr>
          <p:cNvPr id="10" name="Deskripsi ROLE"/>
          <p:cNvSpPr txBox="1"/>
          <p:nvPr/>
        </p:nvSpPr>
        <p:spPr>
          <a:xfrm>
            <a:off x="731520" y="411480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harus bertindak sebagai siapa? (Penulis naskah, produser, sutradara, dll)</a:t>
            </a:r>
            <a:endParaRPr lang="en-US" sz="1400" dirty="0"/>
          </a:p>
        </p:txBody>
      </p:sp>
      <p:sp>
        <p:nvSpPr>
          <p:cNvPr id="11" name="Card TUGAS"/>
          <p:cNvSpPr/>
          <p:nvPr/>
        </p:nvSpPr>
        <p:spPr>
          <a:xfrm>
            <a:off x="2798064" y="1874520"/>
            <a:ext cx="2066544" cy="3520440"/>
          </a:xfrm>
          <a:prstGeom prst="roundRect">
            <a:avLst>
              <a:gd name="adj" fmla="val 53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Huruf bg T"/>
          <p:cNvSpPr/>
          <p:nvPr/>
        </p:nvSpPr>
        <p:spPr>
          <a:xfrm>
            <a:off x="3374136" y="21488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Huruf T"/>
          <p:cNvSpPr txBox="1"/>
          <p:nvPr/>
        </p:nvSpPr>
        <p:spPr>
          <a:xfrm>
            <a:off x="3374136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</a:t>
            </a:r>
            <a:endParaRPr lang="en-US" sz="3600" dirty="0"/>
          </a:p>
        </p:txBody>
      </p:sp>
      <p:sp>
        <p:nvSpPr>
          <p:cNvPr id="14" name="Nama TUGAS"/>
          <p:cNvSpPr txBox="1"/>
          <p:nvPr/>
        </p:nvSpPr>
        <p:spPr>
          <a:xfrm>
            <a:off x="2935224" y="32918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TUGAS</a:t>
            </a:r>
            <a:endParaRPr lang="en-US" sz="1900" dirty="0"/>
          </a:p>
        </p:txBody>
      </p:sp>
      <p:sp>
        <p:nvSpPr>
          <p:cNvPr id="15" name="Sub TUGAS"/>
          <p:cNvSpPr txBox="1"/>
          <p:nvPr/>
        </p:nvSpPr>
        <p:spPr>
          <a:xfrm>
            <a:off x="2935224" y="36576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Pekerjaan</a:t>
            </a:r>
            <a:endParaRPr lang="en-US" sz="1400" dirty="0"/>
          </a:p>
        </p:txBody>
      </p:sp>
      <p:sp>
        <p:nvSpPr>
          <p:cNvPr id="16" name="Deskripsi TUGAS"/>
          <p:cNvSpPr txBox="1"/>
          <p:nvPr/>
        </p:nvSpPr>
        <p:spPr>
          <a:xfrm>
            <a:off x="2980944" y="411480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harus melakukan apa? (Menulis, menyusun, merancang, dll)</a:t>
            </a:r>
            <a:endParaRPr lang="en-US" sz="1400" dirty="0"/>
          </a:p>
        </p:txBody>
      </p:sp>
      <p:sp>
        <p:nvSpPr>
          <p:cNvPr id="17" name="Card KONTEKS"/>
          <p:cNvSpPr/>
          <p:nvPr/>
        </p:nvSpPr>
        <p:spPr>
          <a:xfrm>
            <a:off x="5047488" y="1874520"/>
            <a:ext cx="2066544" cy="3520440"/>
          </a:xfrm>
          <a:prstGeom prst="roundRect">
            <a:avLst>
              <a:gd name="adj" fmla="val 53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Huruf bg K"/>
          <p:cNvSpPr/>
          <p:nvPr/>
        </p:nvSpPr>
        <p:spPr>
          <a:xfrm>
            <a:off x="5623560" y="214884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Huruf K"/>
          <p:cNvSpPr txBox="1"/>
          <p:nvPr/>
        </p:nvSpPr>
        <p:spPr>
          <a:xfrm>
            <a:off x="562356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</a:t>
            </a:r>
            <a:endParaRPr lang="en-US" sz="3600" dirty="0"/>
          </a:p>
        </p:txBody>
      </p:sp>
      <p:sp>
        <p:nvSpPr>
          <p:cNvPr id="20" name="Nama KONTEKS"/>
          <p:cNvSpPr txBox="1"/>
          <p:nvPr/>
        </p:nvSpPr>
        <p:spPr>
          <a:xfrm>
            <a:off x="5184648" y="32918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KONTEKS</a:t>
            </a:r>
            <a:endParaRPr lang="en-US" sz="1900" dirty="0"/>
          </a:p>
        </p:txBody>
      </p:sp>
      <p:sp>
        <p:nvSpPr>
          <p:cNvPr id="21" name="Sub KONTEKS"/>
          <p:cNvSpPr txBox="1"/>
          <p:nvPr/>
        </p:nvSpPr>
        <p:spPr>
          <a:xfrm>
            <a:off x="5184648" y="36576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Informasi</a:t>
            </a:r>
            <a:endParaRPr lang="en-US" sz="1400" dirty="0"/>
          </a:p>
        </p:txBody>
      </p:sp>
      <p:sp>
        <p:nvSpPr>
          <p:cNvPr id="22" name="Deskripsi KONTEKS"/>
          <p:cNvSpPr txBox="1"/>
          <p:nvPr/>
        </p:nvSpPr>
        <p:spPr>
          <a:xfrm>
            <a:off x="5230368" y="411480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perlu tahu apa? (Target penonton, program, tujuan, dll)</a:t>
            </a:r>
            <a:endParaRPr lang="en-US" sz="1400" dirty="0"/>
          </a:p>
        </p:txBody>
      </p:sp>
      <p:sp>
        <p:nvSpPr>
          <p:cNvPr id="23" name="Card FORMAT"/>
          <p:cNvSpPr/>
          <p:nvPr/>
        </p:nvSpPr>
        <p:spPr>
          <a:xfrm>
            <a:off x="7296912" y="1874520"/>
            <a:ext cx="2066544" cy="3520440"/>
          </a:xfrm>
          <a:prstGeom prst="roundRect">
            <a:avLst>
              <a:gd name="adj" fmla="val 53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Huruf bg F"/>
          <p:cNvSpPr/>
          <p:nvPr/>
        </p:nvSpPr>
        <p:spPr>
          <a:xfrm>
            <a:off x="7872984" y="21488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Huruf F"/>
          <p:cNvSpPr txBox="1"/>
          <p:nvPr/>
        </p:nvSpPr>
        <p:spPr>
          <a:xfrm>
            <a:off x="7872984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</a:t>
            </a:r>
            <a:endParaRPr lang="en-US" sz="3600" dirty="0"/>
          </a:p>
        </p:txBody>
      </p:sp>
      <p:sp>
        <p:nvSpPr>
          <p:cNvPr id="26" name="Nama FORMAT"/>
          <p:cNvSpPr txBox="1"/>
          <p:nvPr/>
        </p:nvSpPr>
        <p:spPr>
          <a:xfrm>
            <a:off x="7434072" y="32918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FORMAT</a:t>
            </a:r>
            <a:endParaRPr lang="en-US" sz="1900" dirty="0"/>
          </a:p>
        </p:txBody>
      </p:sp>
      <p:sp>
        <p:nvSpPr>
          <p:cNvPr id="27" name="Sub FORMAT"/>
          <p:cNvSpPr txBox="1"/>
          <p:nvPr/>
        </p:nvSpPr>
        <p:spPr>
          <a:xfrm>
            <a:off x="7434072" y="36576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Bentuk hasil</a:t>
            </a:r>
            <a:endParaRPr lang="en-US" sz="1400" dirty="0"/>
          </a:p>
        </p:txBody>
      </p:sp>
      <p:sp>
        <p:nvSpPr>
          <p:cNvPr id="28" name="Deskripsi FORMAT"/>
          <p:cNvSpPr txBox="1"/>
          <p:nvPr/>
        </p:nvSpPr>
        <p:spPr>
          <a:xfrm>
            <a:off x="7479792" y="411480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Hasilnya berbentuk apa? (Naskah, storyboard, shot list, dll)</a:t>
            </a:r>
            <a:endParaRPr lang="en-US" sz="1400" dirty="0"/>
          </a:p>
        </p:txBody>
      </p:sp>
      <p:sp>
        <p:nvSpPr>
          <p:cNvPr id="29" name="Card BATASAN"/>
          <p:cNvSpPr/>
          <p:nvPr/>
        </p:nvSpPr>
        <p:spPr>
          <a:xfrm>
            <a:off x="9546336" y="1874520"/>
            <a:ext cx="2066544" cy="3520440"/>
          </a:xfrm>
          <a:prstGeom prst="roundRect">
            <a:avLst>
              <a:gd name="adj" fmla="val 53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Huruf bg B"/>
          <p:cNvSpPr/>
          <p:nvPr/>
        </p:nvSpPr>
        <p:spPr>
          <a:xfrm>
            <a:off x="10122408" y="2148840"/>
            <a:ext cx="914400" cy="9144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Huruf B"/>
          <p:cNvSpPr txBox="1"/>
          <p:nvPr/>
        </p:nvSpPr>
        <p:spPr>
          <a:xfrm>
            <a:off x="10122408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</a:t>
            </a:r>
            <a:endParaRPr lang="en-US" sz="3600" dirty="0"/>
          </a:p>
        </p:txBody>
      </p:sp>
      <p:sp>
        <p:nvSpPr>
          <p:cNvPr id="32" name="Nama BATASAN"/>
          <p:cNvSpPr txBox="1"/>
          <p:nvPr/>
        </p:nvSpPr>
        <p:spPr>
          <a:xfrm>
            <a:off x="9683496" y="32918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BATASAN</a:t>
            </a:r>
            <a:endParaRPr lang="en-US" sz="1900" dirty="0"/>
          </a:p>
        </p:txBody>
      </p:sp>
      <p:sp>
        <p:nvSpPr>
          <p:cNvPr id="33" name="Sub BATASAN"/>
          <p:cNvSpPr txBox="1"/>
          <p:nvPr/>
        </p:nvSpPr>
        <p:spPr>
          <a:xfrm>
            <a:off x="9683496" y="365760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Aturan</a:t>
            </a:r>
            <a:endParaRPr lang="en-US" sz="1400" dirty="0"/>
          </a:p>
        </p:txBody>
      </p:sp>
      <p:sp>
        <p:nvSpPr>
          <p:cNvPr id="34" name="Deskripsi BATASAN"/>
          <p:cNvSpPr txBox="1"/>
          <p:nvPr/>
        </p:nvSpPr>
        <p:spPr>
          <a:xfrm>
            <a:off x="9729216" y="411480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Apa yang harus diperhatikan AI? (Durasi, gaya bahasa, nada, dll)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B2A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UNSUR 1 &amp;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ROLE &amp; TUGAS</a:t>
            </a:r>
            <a:endParaRPr lang="en-US" sz="3400" dirty="0"/>
          </a:p>
        </p:txBody>
      </p:sp>
      <p:sp>
        <p:nvSpPr>
          <p:cNvPr id="4" name="Card ROLE"/>
          <p:cNvSpPr/>
          <p:nvPr/>
        </p:nvSpPr>
        <p:spPr>
          <a:xfrm>
            <a:off x="548640" y="1783080"/>
            <a:ext cx="544068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kon role bg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kon role" descr="Ikon r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154326"/>
            <a:ext cx="309067" cy="309067"/>
          </a:xfrm>
          <a:prstGeom prst="rect">
            <a:avLst/>
          </a:prstGeom>
        </p:spPr>
      </p:pic>
      <p:sp>
        <p:nvSpPr>
          <p:cNvPr id="7" name="Judul ROLE"/>
          <p:cNvSpPr txBox="1"/>
          <p:nvPr/>
        </p:nvSpPr>
        <p:spPr>
          <a:xfrm>
            <a:off x="160020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ROLE — Peran</a:t>
            </a:r>
            <a:endParaRPr lang="en-US" sz="2000" dirty="0"/>
          </a:p>
        </p:txBody>
      </p:sp>
      <p:sp>
        <p:nvSpPr>
          <p:cNvPr id="8" name="Deskripsi ROLE"/>
          <p:cNvSpPr txBox="1"/>
          <p:nvPr/>
        </p:nvSpPr>
        <p:spPr>
          <a:xfrm>
            <a:off x="1600200" y="2350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Menentukan AI harus bertindak sebagai siapa.</a:t>
            </a:r>
            <a:endParaRPr lang="en-US" sz="1400" dirty="0"/>
          </a:p>
        </p:txBody>
      </p:sp>
      <p:sp>
        <p:nvSpPr>
          <p:cNvPr id="9" name="Chip role 1"/>
          <p:cNvSpPr/>
          <p:nvPr/>
        </p:nvSpPr>
        <p:spPr>
          <a:xfrm>
            <a:off x="822960" y="2926080"/>
            <a:ext cx="489204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0" name="Teks chip role 1"/>
          <p:cNvSpPr txBox="1"/>
          <p:nvPr/>
        </p:nvSpPr>
        <p:spPr>
          <a:xfrm>
            <a:off x="100584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Bertindak sebagai produser berita televisi</a:t>
            </a:r>
            <a:endParaRPr lang="en-US" sz="1500" dirty="0"/>
          </a:p>
        </p:txBody>
      </p:sp>
      <p:sp>
        <p:nvSpPr>
          <p:cNvPr id="11" name="Chip role 2"/>
          <p:cNvSpPr/>
          <p:nvPr/>
        </p:nvSpPr>
        <p:spPr>
          <a:xfrm>
            <a:off x="822960" y="3520440"/>
            <a:ext cx="489204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2" name="Teks chip role 2"/>
          <p:cNvSpPr txBox="1"/>
          <p:nvPr/>
        </p:nvSpPr>
        <p:spPr>
          <a:xfrm>
            <a:off x="100584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Bertindak sebagai sutradara film pendek</a:t>
            </a:r>
            <a:endParaRPr lang="en-US" sz="1500" dirty="0"/>
          </a:p>
        </p:txBody>
      </p:sp>
      <p:sp>
        <p:nvSpPr>
          <p:cNvPr id="13" name="Card TUGAS"/>
          <p:cNvSpPr/>
          <p:nvPr/>
        </p:nvSpPr>
        <p:spPr>
          <a:xfrm>
            <a:off x="6199632" y="1783080"/>
            <a:ext cx="544068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kon tugas bg"/>
          <p:cNvSpPr/>
          <p:nvPr/>
        </p:nvSpPr>
        <p:spPr>
          <a:xfrm>
            <a:off x="6473952" y="20116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kon tugas" descr="Ikon tug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598" y="2154326"/>
            <a:ext cx="309067" cy="309067"/>
          </a:xfrm>
          <a:prstGeom prst="rect">
            <a:avLst/>
          </a:prstGeom>
        </p:spPr>
      </p:pic>
      <p:sp>
        <p:nvSpPr>
          <p:cNvPr id="16" name="Judul TUGAS"/>
          <p:cNvSpPr txBox="1"/>
          <p:nvPr/>
        </p:nvSpPr>
        <p:spPr>
          <a:xfrm>
            <a:off x="7251192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TUGAS — Pekerjaan</a:t>
            </a:r>
            <a:endParaRPr lang="en-US" sz="2000" dirty="0"/>
          </a:p>
        </p:txBody>
      </p:sp>
      <p:sp>
        <p:nvSpPr>
          <p:cNvPr id="17" name="Deskripsi TUGAS"/>
          <p:cNvSpPr txBox="1"/>
          <p:nvPr/>
        </p:nvSpPr>
        <p:spPr>
          <a:xfrm>
            <a:off x="7251192" y="23500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Apa yang kita minta AI lakukan. Gunakan kata kerja aktif:</a:t>
            </a:r>
            <a:endParaRPr lang="en-US" sz="1400" dirty="0"/>
          </a:p>
        </p:txBody>
      </p:sp>
      <p:sp>
        <p:nvSpPr>
          <p:cNvPr id="18" name="Chip tugas Tulis"/>
          <p:cNvSpPr/>
          <p:nvPr/>
        </p:nvSpPr>
        <p:spPr>
          <a:xfrm>
            <a:off x="6473952" y="2926080"/>
            <a:ext cx="150876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19" name="Teks chip tugas Tulis"/>
          <p:cNvSpPr txBox="1"/>
          <p:nvPr/>
        </p:nvSpPr>
        <p:spPr>
          <a:xfrm>
            <a:off x="6473952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Tulis</a:t>
            </a:r>
            <a:endParaRPr lang="en-US" sz="1500" dirty="0"/>
          </a:p>
        </p:txBody>
      </p:sp>
      <p:sp>
        <p:nvSpPr>
          <p:cNvPr id="20" name="Chip tugas Buatkan"/>
          <p:cNvSpPr/>
          <p:nvPr/>
        </p:nvSpPr>
        <p:spPr>
          <a:xfrm>
            <a:off x="8119872" y="2926080"/>
            <a:ext cx="150876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1" name="Teks chip tugas Buatkan"/>
          <p:cNvSpPr txBox="1"/>
          <p:nvPr/>
        </p:nvSpPr>
        <p:spPr>
          <a:xfrm>
            <a:off x="8119872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Buatkan</a:t>
            </a:r>
            <a:endParaRPr lang="en-US" sz="1500" dirty="0"/>
          </a:p>
        </p:txBody>
      </p:sp>
      <p:sp>
        <p:nvSpPr>
          <p:cNvPr id="22" name="Chip tugas Susun"/>
          <p:cNvSpPr/>
          <p:nvPr/>
        </p:nvSpPr>
        <p:spPr>
          <a:xfrm>
            <a:off x="9765792" y="2926080"/>
            <a:ext cx="150876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3" name="Teks chip tugas Susun"/>
          <p:cNvSpPr txBox="1"/>
          <p:nvPr/>
        </p:nvSpPr>
        <p:spPr>
          <a:xfrm>
            <a:off x="9765792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Susun</a:t>
            </a:r>
            <a:endParaRPr lang="en-US" sz="1500" dirty="0"/>
          </a:p>
        </p:txBody>
      </p:sp>
      <p:sp>
        <p:nvSpPr>
          <p:cNvPr id="24" name="Chip tugas Rancang"/>
          <p:cNvSpPr/>
          <p:nvPr/>
        </p:nvSpPr>
        <p:spPr>
          <a:xfrm>
            <a:off x="6473952" y="3520440"/>
            <a:ext cx="150876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5" name="Teks chip tugas Rancang"/>
          <p:cNvSpPr txBox="1"/>
          <p:nvPr/>
        </p:nvSpPr>
        <p:spPr>
          <a:xfrm>
            <a:off x="6473952" y="3520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Rancang</a:t>
            </a:r>
            <a:endParaRPr lang="en-US" sz="1500" dirty="0"/>
          </a:p>
        </p:txBody>
      </p:sp>
      <p:sp>
        <p:nvSpPr>
          <p:cNvPr id="26" name="Chip tugas Kembangkan"/>
          <p:cNvSpPr/>
          <p:nvPr/>
        </p:nvSpPr>
        <p:spPr>
          <a:xfrm>
            <a:off x="8119872" y="3520440"/>
            <a:ext cx="150876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7" name="Teks chip tugas Kembangkan"/>
          <p:cNvSpPr txBox="1"/>
          <p:nvPr/>
        </p:nvSpPr>
        <p:spPr>
          <a:xfrm>
            <a:off x="8119872" y="3520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Kembangkan</a:t>
            </a:r>
            <a:endParaRPr lang="en-US" sz="1500" dirty="0"/>
          </a:p>
        </p:txBody>
      </p:sp>
      <p:sp>
        <p:nvSpPr>
          <p:cNvPr id="28" name="Chip tugas Ringkas"/>
          <p:cNvSpPr/>
          <p:nvPr/>
        </p:nvSpPr>
        <p:spPr>
          <a:xfrm>
            <a:off x="9765792" y="3520440"/>
            <a:ext cx="150876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9" name="Teks chip tugas Ringkas"/>
          <p:cNvSpPr txBox="1"/>
          <p:nvPr/>
        </p:nvSpPr>
        <p:spPr>
          <a:xfrm>
            <a:off x="9765792" y="3520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Ringkas</a:t>
            </a:r>
            <a:endParaRPr lang="en-US" sz="1500" dirty="0"/>
          </a:p>
        </p:txBody>
      </p:sp>
      <p:sp>
        <p:nvSpPr>
          <p:cNvPr id="30" name="Card tanpa role"/>
          <p:cNvSpPr/>
          <p:nvPr/>
        </p:nvSpPr>
        <p:spPr>
          <a:xfrm>
            <a:off x="548640" y="457200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31" name="Ikon tanpa role" descr="Sala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73168"/>
            <a:ext cx="329184" cy="329184"/>
          </a:xfrm>
          <a:prstGeom prst="rect">
            <a:avLst/>
          </a:prstGeom>
        </p:spPr>
      </p:pic>
      <p:sp>
        <p:nvSpPr>
          <p:cNvPr id="32" name="Judul tanpa role"/>
          <p:cNvSpPr txBox="1"/>
          <p:nvPr/>
        </p:nvSpPr>
        <p:spPr>
          <a:xfrm>
            <a:off x="1280160" y="47731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Tanpa Role</a:t>
            </a:r>
            <a:endParaRPr lang="en-US" sz="1700" dirty="0"/>
          </a:p>
        </p:txBody>
      </p:sp>
      <p:sp>
        <p:nvSpPr>
          <p:cNvPr id="33" name="Contoh tanpa role"/>
          <p:cNvSpPr txBox="1"/>
          <p:nvPr/>
        </p:nvSpPr>
        <p:spPr>
          <a:xfrm>
            <a:off x="822960" y="5303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"Buat naskah berita."</a:t>
            </a:r>
            <a:endParaRPr lang="en-US" sz="1600" dirty="0"/>
          </a:p>
        </p:txBody>
      </p:sp>
      <p:sp>
        <p:nvSpPr>
          <p:cNvPr id="34" name="Card dengan role"/>
          <p:cNvSpPr/>
          <p:nvPr/>
        </p:nvSpPr>
        <p:spPr>
          <a:xfrm>
            <a:off x="6199632" y="457200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35" name="Ikon dengan role" descr="Ben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4773168"/>
            <a:ext cx="329184" cy="329184"/>
          </a:xfrm>
          <a:prstGeom prst="rect">
            <a:avLst/>
          </a:prstGeom>
        </p:spPr>
      </p:pic>
      <p:sp>
        <p:nvSpPr>
          <p:cNvPr id="36" name="Judul dengan role"/>
          <p:cNvSpPr txBox="1"/>
          <p:nvPr/>
        </p:nvSpPr>
        <p:spPr>
          <a:xfrm>
            <a:off x="6931152" y="47731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Dengan Role</a:t>
            </a:r>
            <a:endParaRPr lang="en-US" sz="1700" dirty="0"/>
          </a:p>
        </p:txBody>
      </p:sp>
      <p:sp>
        <p:nvSpPr>
          <p:cNvPr id="37" name="Contoh dengan role"/>
          <p:cNvSpPr txBox="1"/>
          <p:nvPr/>
        </p:nvSpPr>
        <p:spPr>
          <a:xfrm>
            <a:off x="6473952" y="523036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"Bertindak sebagai produser berita televisi. Buatkan naskah berita tentang hari kebersihan sekolah."</a:t>
            </a:r>
            <a:endParaRPr lang="en-US" sz="1500" dirty="0"/>
          </a:p>
        </p:txBody>
      </p:sp>
      <p:sp>
        <p:nvSpPr>
          <p:cNvPr id="38" name="Text 0"/>
          <p:cNvSpPr/>
          <p:nvPr>
            <p:ph idx="102" type="body" hasCustomPrompt="1"/>
          </p:nvPr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B2A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UNSUR 3, 4 &amp; 5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KONTEKS, FORMAT &amp; BATASAN</a:t>
            </a:r>
            <a:endParaRPr lang="en-US" sz="3400" dirty="0"/>
          </a:p>
        </p:txBody>
      </p:sp>
      <p:sp>
        <p:nvSpPr>
          <p:cNvPr id="4" name="Card KONTEKS"/>
          <p:cNvSpPr/>
          <p:nvPr/>
        </p:nvSpPr>
        <p:spPr>
          <a:xfrm>
            <a:off x="548640" y="1783080"/>
            <a:ext cx="3566160" cy="42519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kon KONTEKS bg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kon KONTEKS" descr="Ikon KONTE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211019"/>
            <a:ext cx="332842" cy="332842"/>
          </a:xfrm>
          <a:prstGeom prst="rect">
            <a:avLst/>
          </a:prstGeom>
        </p:spPr>
      </p:pic>
      <p:sp>
        <p:nvSpPr>
          <p:cNvPr id="7" name="Nomor unsur 3"/>
          <p:cNvSpPr txBox="1"/>
          <p:nvPr/>
        </p:nvSpPr>
        <p:spPr>
          <a:xfrm>
            <a:off x="3291840" y="2057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3</a:t>
            </a:r>
            <a:endParaRPr lang="en-US" sz="3600" dirty="0"/>
          </a:p>
        </p:txBody>
      </p:sp>
      <p:sp>
        <p:nvSpPr>
          <p:cNvPr id="8" name="Judul KONTEKS"/>
          <p:cNvSpPr txBox="1"/>
          <p:nvPr/>
        </p:nvSpPr>
        <p:spPr>
          <a:xfrm>
            <a:off x="82296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KONTEKS — Informasi</a:t>
            </a:r>
            <a:endParaRPr lang="en-US" sz="1900" dirty="0"/>
          </a:p>
        </p:txBody>
      </p:sp>
      <p:sp>
        <p:nvSpPr>
          <p:cNvPr id="9" name="Deskripsi KONTEKS"/>
          <p:cNvSpPr txBox="1"/>
          <p:nvPr/>
        </p:nvSpPr>
        <p:spPr>
          <a:xfrm>
            <a:off x="822960" y="3291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Memberikan informasi agar AI memahami kebutuhan produksi.</a:t>
            </a:r>
            <a:endParaRPr lang="en-US" sz="1400" dirty="0"/>
          </a:p>
        </p:txBody>
      </p:sp>
      <p:sp>
        <p:nvSpPr>
          <p:cNvPr id="10" name="Kotak contoh KONTEKS"/>
          <p:cNvSpPr/>
          <p:nvPr/>
        </p:nvSpPr>
        <p:spPr>
          <a:xfrm>
            <a:off x="822960" y="4069080"/>
            <a:ext cx="3017520" cy="1737360"/>
          </a:xfrm>
          <a:prstGeom prst="roundRect">
            <a:avLst>
              <a:gd name="adj" fmla="val 5263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11" name="Contoh KONTEKS"/>
          <p:cNvSpPr txBox="1"/>
          <p:nvPr/>
        </p:nvSpPr>
        <p:spPr>
          <a:xfrm>
            <a:off x="1005840" y="41605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"Naskah ini untuk program berita sekolah yang tayang di kanal YouTube SMK, dengan penonton usia 15–18 tahun."</a:t>
            </a:r>
            <a:endParaRPr lang="en-US" sz="1500" dirty="0"/>
          </a:p>
        </p:txBody>
      </p:sp>
      <p:sp>
        <p:nvSpPr>
          <p:cNvPr id="12" name="Card FORMAT"/>
          <p:cNvSpPr/>
          <p:nvPr/>
        </p:nvSpPr>
        <p:spPr>
          <a:xfrm>
            <a:off x="4297680" y="1783080"/>
            <a:ext cx="3566160" cy="42519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Ikon FORMAT bg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kon FORMAT" descr="Ikon FORM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211019"/>
            <a:ext cx="332842" cy="332842"/>
          </a:xfrm>
          <a:prstGeom prst="rect">
            <a:avLst/>
          </a:prstGeom>
        </p:spPr>
      </p:pic>
      <p:sp>
        <p:nvSpPr>
          <p:cNvPr id="15" name="Nomor unsur 4"/>
          <p:cNvSpPr txBox="1"/>
          <p:nvPr/>
        </p:nvSpPr>
        <p:spPr>
          <a:xfrm>
            <a:off x="7040880" y="2057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</a:t>
            </a:r>
            <a:endParaRPr lang="en-US" sz="3600" dirty="0"/>
          </a:p>
        </p:txBody>
      </p:sp>
      <p:sp>
        <p:nvSpPr>
          <p:cNvPr id="16" name="Judul FORMAT"/>
          <p:cNvSpPr txBox="1"/>
          <p:nvPr/>
        </p:nvSpPr>
        <p:spPr>
          <a:xfrm>
            <a:off x="457200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FORMAT — Bentuk Hasil</a:t>
            </a:r>
            <a:endParaRPr lang="en-US" sz="1900" dirty="0"/>
          </a:p>
        </p:txBody>
      </p:sp>
      <p:sp>
        <p:nvSpPr>
          <p:cNvPr id="17" name="Deskripsi FORMAT"/>
          <p:cNvSpPr txBox="1"/>
          <p:nvPr/>
        </p:nvSpPr>
        <p:spPr>
          <a:xfrm>
            <a:off x="4572000" y="3291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Menentukan bagaimana hasil ditampilkan:</a:t>
            </a:r>
            <a:endParaRPr lang="en-US" sz="1400" dirty="0"/>
          </a:p>
        </p:txBody>
      </p:sp>
      <p:sp>
        <p:nvSpPr>
          <p:cNvPr id="18" name="Kotak contoh FORMAT"/>
          <p:cNvSpPr/>
          <p:nvPr/>
        </p:nvSpPr>
        <p:spPr>
          <a:xfrm>
            <a:off x="4572000" y="4069080"/>
            <a:ext cx="3017520" cy="1737360"/>
          </a:xfrm>
          <a:prstGeom prst="roundRect">
            <a:avLst>
              <a:gd name="adj" fmla="val 5263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9" name="Contoh FORMAT"/>
          <p:cNvSpPr txBox="1"/>
          <p:nvPr/>
        </p:nvSpPr>
        <p:spPr>
          <a:xfrm>
            <a:off x="4754880" y="41605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Naskah berita · Storyboard · Shot list · Skenario · Naskah podcast · Caption &amp; teaser</a:t>
            </a:r>
            <a:endParaRPr lang="en-US" sz="1500" dirty="0"/>
          </a:p>
        </p:txBody>
      </p:sp>
      <p:sp>
        <p:nvSpPr>
          <p:cNvPr id="20" name="Card BATASAN"/>
          <p:cNvSpPr/>
          <p:nvPr/>
        </p:nvSpPr>
        <p:spPr>
          <a:xfrm>
            <a:off x="8046720" y="1783080"/>
            <a:ext cx="3566160" cy="42519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Ikon BATASAN bg"/>
          <p:cNvSpPr/>
          <p:nvPr/>
        </p:nvSpPr>
        <p:spPr>
          <a:xfrm>
            <a:off x="8321040" y="205740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2" name="Ikon BATASAN" descr="Ikon BATAS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211019"/>
            <a:ext cx="332842" cy="332842"/>
          </a:xfrm>
          <a:prstGeom prst="rect">
            <a:avLst/>
          </a:prstGeom>
        </p:spPr>
      </p:pic>
      <p:sp>
        <p:nvSpPr>
          <p:cNvPr id="23" name="Nomor unsur 5"/>
          <p:cNvSpPr txBox="1"/>
          <p:nvPr/>
        </p:nvSpPr>
        <p:spPr>
          <a:xfrm>
            <a:off x="10789920" y="2057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6"/>
                </a:solidFill>
              </a:rPr>
              <a:t>5</a:t>
            </a:r>
            <a:endParaRPr lang="en-US" sz="3600" dirty="0"/>
          </a:p>
        </p:txBody>
      </p:sp>
      <p:sp>
        <p:nvSpPr>
          <p:cNvPr id="24" name="Judul BATASAN"/>
          <p:cNvSpPr txBox="1"/>
          <p:nvPr/>
        </p:nvSpPr>
        <p:spPr>
          <a:xfrm>
            <a:off x="832104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BATASAN — Aturan Main</a:t>
            </a:r>
            <a:endParaRPr lang="en-US" sz="1900" dirty="0"/>
          </a:p>
        </p:txBody>
      </p:sp>
      <p:sp>
        <p:nvSpPr>
          <p:cNvPr id="25" name="Deskripsi BATASAN"/>
          <p:cNvSpPr txBox="1"/>
          <p:nvPr/>
        </p:nvSpPr>
        <p:spPr>
          <a:xfrm>
            <a:off x="8321040" y="3291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Memberikan aturan agar hasil tetap sesuai kebutuhan.</a:t>
            </a:r>
            <a:endParaRPr lang="en-US" sz="1400" dirty="0"/>
          </a:p>
        </p:txBody>
      </p:sp>
      <p:sp>
        <p:nvSpPr>
          <p:cNvPr id="26" name="Kotak contoh BATASAN"/>
          <p:cNvSpPr/>
          <p:nvPr/>
        </p:nvSpPr>
        <p:spPr>
          <a:xfrm>
            <a:off x="8321040" y="4069080"/>
            <a:ext cx="3017520" cy="1737360"/>
          </a:xfrm>
          <a:prstGeom prst="roundRect">
            <a:avLst>
              <a:gd name="adj" fmla="val 5263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27" name="Contoh BATASAN"/>
          <p:cNvSpPr txBox="1"/>
          <p:nvPr/>
        </p:nvSpPr>
        <p:spPr>
          <a:xfrm>
            <a:off x="8503920" y="41605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"Durasi maksimal 60 detik, gunakan bahasa baku, tanpa opini pribadi, dan hindari kalimat bertele-tele."</a:t>
            </a:r>
            <a:endParaRPr lang="en-US" sz="1500" dirty="0"/>
          </a:p>
        </p:txBody>
      </p:sp>
      <p:sp>
        <p:nvSpPr>
          <p:cNvPr id="28" name="Text 0"/>
          <p:cNvSpPr/>
          <p:nvPr>
            <p:ph idx="102" type="body" hasCustomPrompt="1"/>
          </p:nvPr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B2A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CONTOH NYATA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Prompt Lengkap: Storyboard Video Kampanye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Contoh prompt yang menggabungkan kelima unsur R+T+K+F+B:</a:t>
            </a:r>
            <a:endParaRPr lang="en-US" sz="1600" dirty="0"/>
          </a:p>
        </p:txBody>
      </p:sp>
      <p:sp>
        <p:nvSpPr>
          <p:cNvPr id="5" name="Card prompt lengkap"/>
          <p:cNvSpPr/>
          <p:nvPr/>
        </p:nvSpPr>
        <p:spPr>
          <a:xfrm>
            <a:off x="548640" y="1783080"/>
            <a:ext cx="5212080" cy="4251960"/>
          </a:xfrm>
          <a:prstGeom prst="roundRect">
            <a:avLst>
              <a:gd name="adj" fmla="val 258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kon prompt" descr="Ikon 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411480" cy="411480"/>
          </a:xfrm>
          <a:prstGeom prst="rect">
            <a:avLst/>
          </a:prstGeom>
        </p:spPr>
      </p:pic>
      <p:sp>
        <p:nvSpPr>
          <p:cNvPr id="7" name="Label prompt"/>
          <p:cNvSpPr txBox="1"/>
          <p:nvPr/>
        </p:nvSpPr>
        <p:spPr>
          <a:xfrm>
            <a:off x="146304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PROMPT</a:t>
            </a:r>
            <a:endParaRPr lang="en-US" sz="1600" dirty="0"/>
          </a:p>
        </p:txBody>
      </p:sp>
      <p:sp>
        <p:nvSpPr>
          <p:cNvPr id="8" name="Teks prompt lengkap"/>
          <p:cNvSpPr txBox="1"/>
          <p:nvPr/>
        </p:nvSpPr>
        <p:spPr>
          <a:xfrm>
            <a:off x="868680" y="26517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"Bertindak sebagai sutradara dan penulis skenario profesional. Buatkan storyboard video kampanye anti-bullying di sekolah untuk siswa SMA yang tayang di media sosial sekolah. Sajikan dalam tabel 6 adegan berisi nomor adegan, deskripsi visual, jenis shot, dan narasi. Gunakan alur positif dan emosional, durasi total maksimal 60 detik, dan hindari adegan kekerasan yang eksplisit."</a:t>
            </a:r>
            <a:endParaRPr lang="en-US" sz="1800" dirty="0"/>
          </a:p>
        </p:txBody>
      </p:sp>
      <p:sp>
        <p:nvSpPr>
          <p:cNvPr id="9" name="Baris ROLE"/>
          <p:cNvSpPr/>
          <p:nvPr/>
        </p:nvSpPr>
        <p:spPr>
          <a:xfrm>
            <a:off x="6035040" y="1783080"/>
            <a:ext cx="560527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Label ROLE"/>
          <p:cNvSpPr/>
          <p:nvPr/>
        </p:nvSpPr>
        <p:spPr>
          <a:xfrm>
            <a:off x="6035040" y="1783080"/>
            <a:ext cx="146304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ks label ROLE"/>
          <p:cNvSpPr txBox="1"/>
          <p:nvPr/>
        </p:nvSpPr>
        <p:spPr>
          <a:xfrm>
            <a:off x="603504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ROLE</a:t>
            </a:r>
            <a:endParaRPr lang="en-US" sz="1500" dirty="0"/>
          </a:p>
        </p:txBody>
      </p:sp>
      <p:sp>
        <p:nvSpPr>
          <p:cNvPr id="12" name="Isi ROLE"/>
          <p:cNvSpPr txBox="1"/>
          <p:nvPr/>
        </p:nvSpPr>
        <p:spPr>
          <a:xfrm>
            <a:off x="7680960" y="1783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Sutradara &amp; penulis skenario profesional</a:t>
            </a:r>
            <a:endParaRPr lang="en-US" sz="1400" dirty="0"/>
          </a:p>
        </p:txBody>
      </p:sp>
      <p:sp>
        <p:nvSpPr>
          <p:cNvPr id="13" name="Baris TUGAS"/>
          <p:cNvSpPr/>
          <p:nvPr/>
        </p:nvSpPr>
        <p:spPr>
          <a:xfrm>
            <a:off x="6035040" y="2633472"/>
            <a:ext cx="560527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Label TUGAS"/>
          <p:cNvSpPr/>
          <p:nvPr/>
        </p:nvSpPr>
        <p:spPr>
          <a:xfrm>
            <a:off x="6035040" y="2633472"/>
            <a:ext cx="146304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ks label TUGAS"/>
          <p:cNvSpPr txBox="1"/>
          <p:nvPr/>
        </p:nvSpPr>
        <p:spPr>
          <a:xfrm>
            <a:off x="6035040" y="263347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TUGAS</a:t>
            </a:r>
            <a:endParaRPr lang="en-US" sz="1500" dirty="0"/>
          </a:p>
        </p:txBody>
      </p:sp>
      <p:sp>
        <p:nvSpPr>
          <p:cNvPr id="16" name="Isi TUGAS"/>
          <p:cNvSpPr txBox="1"/>
          <p:nvPr/>
        </p:nvSpPr>
        <p:spPr>
          <a:xfrm>
            <a:off x="7680960" y="263347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Membuat storyboard video kampanye</a:t>
            </a:r>
            <a:endParaRPr lang="en-US" sz="1400" dirty="0"/>
          </a:p>
        </p:txBody>
      </p:sp>
      <p:sp>
        <p:nvSpPr>
          <p:cNvPr id="17" name="Baris KONTEKS"/>
          <p:cNvSpPr/>
          <p:nvPr/>
        </p:nvSpPr>
        <p:spPr>
          <a:xfrm>
            <a:off x="6035040" y="3483864"/>
            <a:ext cx="560527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Label KONTEKS"/>
          <p:cNvSpPr/>
          <p:nvPr/>
        </p:nvSpPr>
        <p:spPr>
          <a:xfrm>
            <a:off x="6035040" y="3483864"/>
            <a:ext cx="1463040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ks label KONTEKS"/>
          <p:cNvSpPr txBox="1"/>
          <p:nvPr/>
        </p:nvSpPr>
        <p:spPr>
          <a:xfrm>
            <a:off x="6035040" y="348386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KONTEKS</a:t>
            </a:r>
            <a:endParaRPr lang="en-US" sz="1500" dirty="0"/>
          </a:p>
        </p:txBody>
      </p:sp>
      <p:sp>
        <p:nvSpPr>
          <p:cNvPr id="20" name="Isi KONTEKS"/>
          <p:cNvSpPr txBox="1"/>
          <p:nvPr/>
        </p:nvSpPr>
        <p:spPr>
          <a:xfrm>
            <a:off x="7680960" y="348386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Anti-bullying untuk siswa SMA, tayang di media sosial sekolah</a:t>
            </a:r>
            <a:endParaRPr lang="en-US" sz="1400" dirty="0"/>
          </a:p>
        </p:txBody>
      </p:sp>
      <p:sp>
        <p:nvSpPr>
          <p:cNvPr id="21" name="Baris FORMAT"/>
          <p:cNvSpPr/>
          <p:nvPr/>
        </p:nvSpPr>
        <p:spPr>
          <a:xfrm>
            <a:off x="6035040" y="4334256"/>
            <a:ext cx="560527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Label FORMAT"/>
          <p:cNvSpPr/>
          <p:nvPr/>
        </p:nvSpPr>
        <p:spPr>
          <a:xfrm>
            <a:off x="6035040" y="4334256"/>
            <a:ext cx="1463040" cy="73152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ks label FORMAT"/>
          <p:cNvSpPr txBox="1"/>
          <p:nvPr/>
        </p:nvSpPr>
        <p:spPr>
          <a:xfrm>
            <a:off x="6035040" y="433425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FORMAT</a:t>
            </a:r>
            <a:endParaRPr lang="en-US" sz="1500" dirty="0"/>
          </a:p>
        </p:txBody>
      </p:sp>
      <p:sp>
        <p:nvSpPr>
          <p:cNvPr id="24" name="Isi FORMAT"/>
          <p:cNvSpPr txBox="1"/>
          <p:nvPr/>
        </p:nvSpPr>
        <p:spPr>
          <a:xfrm>
            <a:off x="7680960" y="433425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Tabel 6 adegan (nomor, visual, jenis shot, narasi)</a:t>
            </a:r>
            <a:endParaRPr lang="en-US" sz="1400" dirty="0"/>
          </a:p>
        </p:txBody>
      </p:sp>
      <p:sp>
        <p:nvSpPr>
          <p:cNvPr id="25" name="Baris BATASAN"/>
          <p:cNvSpPr/>
          <p:nvPr/>
        </p:nvSpPr>
        <p:spPr>
          <a:xfrm>
            <a:off x="6035040" y="5184648"/>
            <a:ext cx="5605272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Label BATASAN"/>
          <p:cNvSpPr/>
          <p:nvPr/>
        </p:nvSpPr>
        <p:spPr>
          <a:xfrm>
            <a:off x="6035040" y="5184648"/>
            <a:ext cx="1463040" cy="73152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ks label BATASAN"/>
          <p:cNvSpPr txBox="1"/>
          <p:nvPr/>
        </p:nvSpPr>
        <p:spPr>
          <a:xfrm>
            <a:off x="6035040" y="518464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BATASAN</a:t>
            </a:r>
            <a:endParaRPr lang="en-US" sz="1500" dirty="0"/>
          </a:p>
        </p:txBody>
      </p:sp>
      <p:sp>
        <p:nvSpPr>
          <p:cNvPr id="28" name="Isi BATASAN"/>
          <p:cNvSpPr txBox="1"/>
          <p:nvPr/>
        </p:nvSpPr>
        <p:spPr>
          <a:xfrm>
            <a:off x="7680960" y="5184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Alur positif, maks. 60 detik, tanpa kekerasan eksplisit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B2A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VARIASI TEMA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Contoh Prompt untuk Berbagai Kebutuhan Produksi</a:t>
            </a:r>
            <a:endParaRPr lang="en-US" sz="3400" dirty="0"/>
          </a:p>
        </p:txBody>
      </p:sp>
      <p:sp>
        <p:nvSpPr>
          <p:cNvPr id="4" name="Card Naskah Berita"/>
          <p:cNvSpPr/>
          <p:nvPr/>
        </p:nvSpPr>
        <p:spPr>
          <a:xfrm>
            <a:off x="548640" y="178308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kon Naskah Berita bg"/>
          <p:cNvSpPr/>
          <p:nvPr/>
        </p:nvSpPr>
        <p:spPr>
          <a:xfrm>
            <a:off x="822960" y="203911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kon Naskah Berita" descr="Ikon Naskah Beri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170786"/>
            <a:ext cx="285293" cy="285293"/>
          </a:xfrm>
          <a:prstGeom prst="rect">
            <a:avLst/>
          </a:prstGeom>
        </p:spPr>
      </p:pic>
      <p:sp>
        <p:nvSpPr>
          <p:cNvPr id="7" name="Judul Naskah Berita"/>
          <p:cNvSpPr txBox="1"/>
          <p:nvPr/>
        </p:nvSpPr>
        <p:spPr>
          <a:xfrm>
            <a:off x="1554480" y="2039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Naskah Berita</a:t>
            </a:r>
            <a:endParaRPr lang="en-US" sz="1700" dirty="0"/>
          </a:p>
        </p:txBody>
      </p:sp>
      <p:sp>
        <p:nvSpPr>
          <p:cNvPr id="8" name="Contoh Naskah Berita"/>
          <p:cNvSpPr txBox="1"/>
          <p:nvPr/>
        </p:nvSpPr>
        <p:spPr>
          <a:xfrm>
            <a:off x="822960" y="2788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"Bertindak sebagai produser berita. Tulis naskah berita 60 detik tentang pentingnya literasi digital."</a:t>
            </a:r>
            <a:endParaRPr lang="en-US" sz="1400" dirty="0"/>
          </a:p>
        </p:txBody>
      </p:sp>
      <p:sp>
        <p:nvSpPr>
          <p:cNvPr id="9" name="Card Storyboard"/>
          <p:cNvSpPr/>
          <p:nvPr/>
        </p:nvSpPr>
        <p:spPr>
          <a:xfrm>
            <a:off x="4297680" y="178308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kon Storyboard bg"/>
          <p:cNvSpPr/>
          <p:nvPr/>
        </p:nvSpPr>
        <p:spPr>
          <a:xfrm>
            <a:off x="4572000" y="2039112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kon Storyboard" descr="Ikon Story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170786"/>
            <a:ext cx="285293" cy="285293"/>
          </a:xfrm>
          <a:prstGeom prst="rect">
            <a:avLst/>
          </a:prstGeom>
        </p:spPr>
      </p:pic>
      <p:sp>
        <p:nvSpPr>
          <p:cNvPr id="12" name="Judul Storyboard"/>
          <p:cNvSpPr txBox="1"/>
          <p:nvPr/>
        </p:nvSpPr>
        <p:spPr>
          <a:xfrm>
            <a:off x="5303520" y="2039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Storyboard</a:t>
            </a:r>
            <a:endParaRPr lang="en-US" sz="1700" dirty="0"/>
          </a:p>
        </p:txBody>
      </p:sp>
      <p:sp>
        <p:nvSpPr>
          <p:cNvPr id="13" name="Contoh Storyboard"/>
          <p:cNvSpPr txBox="1"/>
          <p:nvPr/>
        </p:nvSpPr>
        <p:spPr>
          <a:xfrm>
            <a:off x="4572000" y="2788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"Bertindak sebagai sutradara. Rancang storyboard 6 adegan untuk iklan layanan masyarakat."</a:t>
            </a:r>
            <a:endParaRPr lang="en-US" sz="1400" dirty="0"/>
          </a:p>
        </p:txBody>
      </p:sp>
      <p:sp>
        <p:nvSpPr>
          <p:cNvPr id="14" name="Card Skenario Film Pendek"/>
          <p:cNvSpPr/>
          <p:nvPr/>
        </p:nvSpPr>
        <p:spPr>
          <a:xfrm>
            <a:off x="8046720" y="178308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Ikon Skenario Film Pendek bg"/>
          <p:cNvSpPr/>
          <p:nvPr/>
        </p:nvSpPr>
        <p:spPr>
          <a:xfrm>
            <a:off x="8321040" y="2039112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kon Skenario Film Pendek" descr="Ikon Skenario Film Pende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2170786"/>
            <a:ext cx="285293" cy="285293"/>
          </a:xfrm>
          <a:prstGeom prst="rect">
            <a:avLst/>
          </a:prstGeom>
        </p:spPr>
      </p:pic>
      <p:sp>
        <p:nvSpPr>
          <p:cNvPr id="17" name="Judul Skenario Film Pendek"/>
          <p:cNvSpPr txBox="1"/>
          <p:nvPr/>
        </p:nvSpPr>
        <p:spPr>
          <a:xfrm>
            <a:off x="9052560" y="2039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Skenario Film Pendek</a:t>
            </a:r>
            <a:endParaRPr lang="en-US" sz="1700" dirty="0"/>
          </a:p>
        </p:txBody>
      </p:sp>
      <p:sp>
        <p:nvSpPr>
          <p:cNvPr id="18" name="Contoh Skenario Film Pendek"/>
          <p:cNvSpPr txBox="1"/>
          <p:nvPr/>
        </p:nvSpPr>
        <p:spPr>
          <a:xfrm>
            <a:off x="8321040" y="2788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"Bertindak sebagai penulis skenario. Susun skenario film pendek 5 menit bertema persahabatan."</a:t>
            </a:r>
            <a:endParaRPr lang="en-US" sz="1400" dirty="0"/>
          </a:p>
        </p:txBody>
      </p:sp>
      <p:sp>
        <p:nvSpPr>
          <p:cNvPr id="19" name="Card Naskah Podcast &amp; Radio"/>
          <p:cNvSpPr/>
          <p:nvPr/>
        </p:nvSpPr>
        <p:spPr>
          <a:xfrm>
            <a:off x="548640" y="397764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Ikon Naskah Podcast &amp; Radio bg"/>
          <p:cNvSpPr/>
          <p:nvPr/>
        </p:nvSpPr>
        <p:spPr>
          <a:xfrm>
            <a:off x="822960" y="423367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kon Naskah Podcast &amp; Radio" descr="Ikon Naskah Podcast &amp; Radi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365346"/>
            <a:ext cx="285293" cy="285293"/>
          </a:xfrm>
          <a:prstGeom prst="rect">
            <a:avLst/>
          </a:prstGeom>
        </p:spPr>
      </p:pic>
      <p:sp>
        <p:nvSpPr>
          <p:cNvPr id="22" name="Judul Naskah Podcast &amp;amp; Radio"/>
          <p:cNvSpPr txBox="1"/>
          <p:nvPr/>
        </p:nvSpPr>
        <p:spPr>
          <a:xfrm>
            <a:off x="1554480" y="42336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Naskah Podcast &amp; Radio</a:t>
            </a:r>
            <a:endParaRPr lang="en-US" sz="1700" dirty="0"/>
          </a:p>
        </p:txBody>
      </p:sp>
      <p:sp>
        <p:nvSpPr>
          <p:cNvPr id="23" name="Contoh Naskah Podcast &amp;amp; Radio"/>
          <p:cNvSpPr txBox="1"/>
          <p:nvPr/>
        </p:nvSpPr>
        <p:spPr>
          <a:xfrm>
            <a:off x="82296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"Bertindak sebagai penyiar radio. Tulis naskah podcast 3 menit tentang tips belajar efektif."</a:t>
            </a:r>
            <a:endParaRPr lang="en-US" sz="1400" dirty="0"/>
          </a:p>
        </p:txBody>
      </p:sp>
      <p:sp>
        <p:nvSpPr>
          <p:cNvPr id="24" name="Card Shot List"/>
          <p:cNvSpPr/>
          <p:nvPr/>
        </p:nvSpPr>
        <p:spPr>
          <a:xfrm>
            <a:off x="4297680" y="397764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Ikon Shot List bg"/>
          <p:cNvSpPr/>
          <p:nvPr/>
        </p:nvSpPr>
        <p:spPr>
          <a:xfrm>
            <a:off x="4572000" y="4233672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6" name="Ikon Shot List" descr="Ikon Shot Lis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74" y="4365346"/>
            <a:ext cx="285293" cy="285293"/>
          </a:xfrm>
          <a:prstGeom prst="rect">
            <a:avLst/>
          </a:prstGeom>
        </p:spPr>
      </p:pic>
      <p:sp>
        <p:nvSpPr>
          <p:cNvPr id="27" name="Judul Shot List"/>
          <p:cNvSpPr txBox="1"/>
          <p:nvPr/>
        </p:nvSpPr>
        <p:spPr>
          <a:xfrm>
            <a:off x="5303520" y="42336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Shot List</a:t>
            </a:r>
            <a:endParaRPr lang="en-US" sz="1700" dirty="0"/>
          </a:p>
        </p:txBody>
      </p:sp>
      <p:sp>
        <p:nvSpPr>
          <p:cNvPr id="28" name="Contoh Shot List"/>
          <p:cNvSpPr txBox="1"/>
          <p:nvPr/>
        </p:nvSpPr>
        <p:spPr>
          <a:xfrm>
            <a:off x="457200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"Bertindak sebagai sinematografer. Buat shot list video profil sekolah berdurasi 2 menit."</a:t>
            </a:r>
            <a:endParaRPr lang="en-US" sz="1400" dirty="0"/>
          </a:p>
        </p:txBody>
      </p:sp>
      <p:sp>
        <p:nvSpPr>
          <p:cNvPr id="29" name="Card Caption &amp; Teaser"/>
          <p:cNvSpPr/>
          <p:nvPr/>
        </p:nvSpPr>
        <p:spPr>
          <a:xfrm>
            <a:off x="8046720" y="397764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Ikon Caption &amp; Teaser bg"/>
          <p:cNvSpPr/>
          <p:nvPr/>
        </p:nvSpPr>
        <p:spPr>
          <a:xfrm>
            <a:off x="8321040" y="42336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kon Caption &amp; Teaser" descr="Ikon Caption &amp; Teas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714" y="4365346"/>
            <a:ext cx="285293" cy="285293"/>
          </a:xfrm>
          <a:prstGeom prst="rect">
            <a:avLst/>
          </a:prstGeom>
        </p:spPr>
      </p:pic>
      <p:sp>
        <p:nvSpPr>
          <p:cNvPr id="32" name="Judul Caption &amp;amp; Teaser"/>
          <p:cNvSpPr txBox="1"/>
          <p:nvPr/>
        </p:nvSpPr>
        <p:spPr>
          <a:xfrm>
            <a:off x="9052560" y="42336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Caption &amp; Teaser</a:t>
            </a:r>
            <a:endParaRPr lang="en-US" sz="1700" dirty="0"/>
          </a:p>
        </p:txBody>
      </p:sp>
      <p:sp>
        <p:nvSpPr>
          <p:cNvPr id="33" name="Contoh Caption &amp;amp; Teaser"/>
          <p:cNvSpPr txBox="1"/>
          <p:nvPr/>
        </p:nvSpPr>
        <p:spPr>
          <a:xfrm>
            <a:off x="8321040" y="4983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"Bertindak sebagai social media editor. Tulis caption dan teaser 15 detik untuk promo film pendek."</a:t>
            </a:r>
            <a:endParaRPr lang="en-US" sz="1400" dirty="0"/>
          </a:p>
        </p:txBody>
      </p:sp>
      <p:sp>
        <p:nvSpPr>
          <p:cNvPr id="3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B2A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PROYEK SISWA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Proyek: AI Assistant untuk Kru Produksi Pemula</a:t>
            </a:r>
            <a:endParaRPr lang="en-US" sz="3400" dirty="0"/>
          </a:p>
        </p:txBody>
      </p:sp>
      <p:sp>
        <p:nvSpPr>
          <p:cNvPr id="4" name="Card tantangan"/>
          <p:cNvSpPr/>
          <p:nvPr/>
        </p:nvSpPr>
        <p:spPr>
          <a:xfrm>
            <a:off x="548640" y="1783080"/>
            <a:ext cx="5760720" cy="4251960"/>
          </a:xfrm>
          <a:prstGeom prst="roundRect">
            <a:avLst>
              <a:gd name="adj" fmla="val 258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Ikon tantangan bg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kon tantangan" descr="Ikon tantang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245766"/>
            <a:ext cx="309067" cy="309067"/>
          </a:xfrm>
          <a:prstGeom prst="rect">
            <a:avLst/>
          </a:prstGeom>
        </p:spPr>
      </p:pic>
      <p:sp>
        <p:nvSpPr>
          <p:cNvPr id="7" name="Judul tantangan"/>
          <p:cNvSpPr txBox="1"/>
          <p:nvPr/>
        </p:nvSpPr>
        <p:spPr>
          <a:xfrm>
            <a:off x="1691640" y="21031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Tantangan</a:t>
            </a:r>
            <a:endParaRPr lang="en-US" sz="2200" dirty="0"/>
          </a:p>
        </p:txBody>
      </p:sp>
      <p:sp>
        <p:nvSpPr>
          <p:cNvPr id="8" name="Isi tantangan"/>
          <p:cNvSpPr txBox="1"/>
          <p:nvPr/>
        </p:nvSpPr>
        <p:spPr>
          <a:xfrm>
            <a:off x="868680" y="29260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Siswa membuat prompt untuk AI yang berfungsi sebagai asisten produksi media. Pilih salah satu tema proyek dan buat prompt lengkap menggunakan R+T+K+F+B.</a:t>
            </a:r>
            <a:endParaRPr lang="en-US" sz="1600" dirty="0"/>
          </a:p>
        </p:txBody>
      </p:sp>
      <p:sp>
        <p:nvSpPr>
          <p:cNvPr id="9" name="Kotak contoh judul"/>
          <p:cNvSpPr/>
          <p:nvPr/>
        </p:nvSpPr>
        <p:spPr>
          <a:xfrm>
            <a:off x="868680" y="4389120"/>
            <a:ext cx="5120640" cy="1371600"/>
          </a:xfrm>
          <a:prstGeom prst="roundRect">
            <a:avLst>
              <a:gd name="adj" fmla="val 6667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>
                <a:alpha val="0"/>
              </a:schemeClr>
            </a:solidFill>
            <a:prstDash val="solid"/>
          </a:ln>
        </p:spPr>
      </p:sp>
      <p:sp>
        <p:nvSpPr>
          <p:cNvPr id="10" name="Contoh judul proyek"/>
          <p:cNvSpPr txBox="1"/>
          <p:nvPr/>
        </p:nvSpPr>
        <p:spPr>
          <a:xfrm>
            <a:off x="1051560" y="4480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Contoh judul proyek: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"AI Asisten Penulis Naskah Berita Sekolah" — buat prompt untuk menghasilkan 3 versi naskah dengan sudut pandang berbeda namun gaya bahasa konsisten.</a:t>
            </a:r>
            <a:endParaRPr lang="en-US" sz="1400" dirty="0"/>
          </a:p>
        </p:txBody>
      </p:sp>
      <p:sp>
        <p:nvSpPr>
          <p:cNvPr id="11" name="Judul pilihan tema"/>
          <p:cNvSpPr txBox="1"/>
          <p:nvPr/>
        </p:nvSpPr>
        <p:spPr>
          <a:xfrm>
            <a:off x="66751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Pilih salah satu tema</a:t>
            </a:r>
            <a:endParaRPr lang="en-US" sz="1800" dirty="0"/>
          </a:p>
        </p:txBody>
      </p:sp>
      <p:sp>
        <p:nvSpPr>
          <p:cNvPr id="12" name="Chip tema Berita TV"/>
          <p:cNvSpPr/>
          <p:nvPr/>
        </p:nvSpPr>
        <p:spPr>
          <a:xfrm>
            <a:off x="6675120" y="2331720"/>
            <a:ext cx="2395728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ks tema Berita TV"/>
          <p:cNvSpPr txBox="1"/>
          <p:nvPr/>
        </p:nvSpPr>
        <p:spPr>
          <a:xfrm>
            <a:off x="6812280" y="23317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Berita TV</a:t>
            </a:r>
            <a:endParaRPr lang="en-US" sz="1500" dirty="0"/>
          </a:p>
        </p:txBody>
      </p:sp>
      <p:sp>
        <p:nvSpPr>
          <p:cNvPr id="14" name="Chip tema Film Pendek"/>
          <p:cNvSpPr/>
          <p:nvPr/>
        </p:nvSpPr>
        <p:spPr>
          <a:xfrm>
            <a:off x="9208008" y="2331720"/>
            <a:ext cx="2395728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ks tema Film Pendek"/>
          <p:cNvSpPr txBox="1"/>
          <p:nvPr/>
        </p:nvSpPr>
        <p:spPr>
          <a:xfrm>
            <a:off x="9345168" y="23317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Film Pendek</a:t>
            </a:r>
            <a:endParaRPr lang="en-US" sz="1500" dirty="0"/>
          </a:p>
        </p:txBody>
      </p:sp>
      <p:sp>
        <p:nvSpPr>
          <p:cNvPr id="16" name="Chip tema Podcast &amp; Radio"/>
          <p:cNvSpPr/>
          <p:nvPr/>
        </p:nvSpPr>
        <p:spPr>
          <a:xfrm>
            <a:off x="6675120" y="3246120"/>
            <a:ext cx="2395728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ks tema Podcast &amp;amp; Radio"/>
          <p:cNvSpPr txBox="1"/>
          <p:nvPr/>
        </p:nvSpPr>
        <p:spPr>
          <a:xfrm>
            <a:off x="6812280" y="32461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Podcast &amp; Radio</a:t>
            </a:r>
            <a:endParaRPr lang="en-US" sz="1500" dirty="0"/>
          </a:p>
        </p:txBody>
      </p:sp>
      <p:sp>
        <p:nvSpPr>
          <p:cNvPr id="18" name="Chip tema Iklan Layanan Publik"/>
          <p:cNvSpPr/>
          <p:nvPr/>
        </p:nvSpPr>
        <p:spPr>
          <a:xfrm>
            <a:off x="9208008" y="3246120"/>
            <a:ext cx="2395728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ks tema Iklan Layanan Publik"/>
          <p:cNvSpPr txBox="1"/>
          <p:nvPr/>
        </p:nvSpPr>
        <p:spPr>
          <a:xfrm>
            <a:off x="9345168" y="32461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Iklan Layanan Publik</a:t>
            </a:r>
            <a:endParaRPr lang="en-US" sz="1500" dirty="0"/>
          </a:p>
        </p:txBody>
      </p:sp>
      <p:sp>
        <p:nvSpPr>
          <p:cNvPr id="20" name="Chip tema Vlog &amp; Konten Sosmed"/>
          <p:cNvSpPr/>
          <p:nvPr/>
        </p:nvSpPr>
        <p:spPr>
          <a:xfrm>
            <a:off x="6675120" y="4160520"/>
            <a:ext cx="2395728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ks tema Vlog &amp;amp; Konten Sosmed"/>
          <p:cNvSpPr txBox="1"/>
          <p:nvPr/>
        </p:nvSpPr>
        <p:spPr>
          <a:xfrm>
            <a:off x="6812280" y="41605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Vlog &amp; Konten Sosmed</a:t>
            </a:r>
            <a:endParaRPr lang="en-US" sz="1500" dirty="0"/>
          </a:p>
        </p:txBody>
      </p:sp>
      <p:sp>
        <p:nvSpPr>
          <p:cNvPr id="22" name="Chip tema Dokumenter"/>
          <p:cNvSpPr/>
          <p:nvPr/>
        </p:nvSpPr>
        <p:spPr>
          <a:xfrm>
            <a:off x="9208008" y="4160520"/>
            <a:ext cx="2395728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ks tema Dokumenter"/>
          <p:cNvSpPr txBox="1"/>
          <p:nvPr/>
        </p:nvSpPr>
        <p:spPr>
          <a:xfrm>
            <a:off x="9345168" y="41605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Dokumenter</a:t>
            </a:r>
            <a:endParaRPr lang="en-US" sz="1500" dirty="0"/>
          </a:p>
        </p:txBody>
      </p:sp>
      <p:sp>
        <p:nvSpPr>
          <p:cNvPr id="24" name="Chip tema Motion Graphics &amp; Teaser"/>
          <p:cNvSpPr/>
          <p:nvPr/>
        </p:nvSpPr>
        <p:spPr>
          <a:xfrm>
            <a:off x="6675120" y="5074920"/>
            <a:ext cx="2395728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ks tema Motion Graphics &amp;amp; Teaser"/>
          <p:cNvSpPr txBox="1"/>
          <p:nvPr/>
        </p:nvSpPr>
        <p:spPr>
          <a:xfrm>
            <a:off x="6812280" y="50749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Motion Graphics &amp; Teaser</a:t>
            </a:r>
            <a:endParaRPr lang="en-US" sz="1500" dirty="0"/>
          </a:p>
        </p:txBody>
      </p:sp>
      <p:sp>
        <p:nvSpPr>
          <p:cNvPr id="26" name="Chip tema Company Profile"/>
          <p:cNvSpPr/>
          <p:nvPr/>
        </p:nvSpPr>
        <p:spPr>
          <a:xfrm>
            <a:off x="9208008" y="5074920"/>
            <a:ext cx="2395728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ks tema Company Profile"/>
          <p:cNvSpPr txBox="1"/>
          <p:nvPr/>
        </p:nvSpPr>
        <p:spPr>
          <a:xfrm>
            <a:off x="9345168" y="50749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Company Profile</a:t>
            </a:r>
            <a:endParaRPr lang="en-US" sz="1500" dirty="0"/>
          </a:p>
        </p:txBody>
      </p:sp>
      <p:sp>
        <p:nvSpPr>
          <p:cNvPr id="28" name="Text 0"/>
          <p:cNvSpPr/>
          <p:nvPr>
            <p:ph idx="102" type="body" hasCustomPrompt="1"/>
          </p:nvPr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3F1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AI BERTANGGUNG JAWAB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Etika Menggunakan AI dalam Produksi Media</a:t>
            </a:r>
            <a:endParaRPr lang="en-US" sz="3400" dirty="0"/>
          </a:p>
        </p:txBody>
      </p:sp>
      <p:sp>
        <p:nvSpPr>
          <p:cNvPr id="4" name="Panel pernyataan"/>
          <p:cNvSpPr/>
          <p:nvPr/>
        </p:nvSpPr>
        <p:spPr>
          <a:xfrm>
            <a:off x="548640" y="1783080"/>
            <a:ext cx="3840480" cy="425196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kon perisai bg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kon perisai" descr="Ikon peris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335378"/>
            <a:ext cx="404165" cy="404165"/>
          </a:xfrm>
          <a:prstGeom prst="rect">
            <a:avLst/>
          </a:prstGeom>
        </p:spPr>
      </p:pic>
      <p:sp>
        <p:nvSpPr>
          <p:cNvPr id="7" name="Pernyataan etika"/>
          <p:cNvSpPr txBox="1"/>
          <p:nvPr/>
        </p:nvSpPr>
        <p:spPr>
          <a:xfrm>
            <a:off x="868680" y="324612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AI membantu, manusia yang bertanggung jawab.</a:t>
            </a:r>
            <a:endParaRPr lang="en-US" sz="2600" dirty="0"/>
          </a:p>
        </p:txBody>
      </p:sp>
      <p:sp>
        <p:nvSpPr>
          <p:cNvPr id="8" name="Baris Verifikasi fakta"/>
          <p:cNvSpPr/>
          <p:nvPr/>
        </p:nvSpPr>
        <p:spPr>
          <a:xfrm>
            <a:off x="4663440" y="1783080"/>
            <a:ext cx="6976872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kon Verifikasi fakta bg"/>
          <p:cNvSpPr/>
          <p:nvPr/>
        </p:nvSpPr>
        <p:spPr>
          <a:xfrm>
            <a:off x="4937760" y="196596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kon Verifikasi fakta" descr="Ikon Verifikasi fak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2108606"/>
            <a:ext cx="309067" cy="309067"/>
          </a:xfrm>
          <a:prstGeom prst="rect">
            <a:avLst/>
          </a:prstGeom>
        </p:spPr>
      </p:pic>
      <p:sp>
        <p:nvSpPr>
          <p:cNvPr id="11" name="Judul Verifikasi fakta"/>
          <p:cNvSpPr txBox="1"/>
          <p:nvPr/>
        </p:nvSpPr>
        <p:spPr>
          <a:xfrm>
            <a:off x="5760720" y="18928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Verifikasi fakta</a:t>
            </a:r>
            <a:endParaRPr lang="en-US" sz="1700" dirty="0"/>
          </a:p>
        </p:txBody>
      </p:sp>
      <p:sp>
        <p:nvSpPr>
          <p:cNvPr id="12" name="Isi Verifikasi fakta"/>
          <p:cNvSpPr txBox="1"/>
          <p:nvPr/>
        </p:nvSpPr>
        <p:spPr>
          <a:xfrm>
            <a:off x="5760720" y="222199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bisa keliru. Selalu cek ulang data, nama, dan sumber, terutama untuk naskah berita.</a:t>
            </a:r>
            <a:endParaRPr lang="en-US" sz="1400" dirty="0"/>
          </a:p>
        </p:txBody>
      </p:sp>
      <p:sp>
        <p:nvSpPr>
          <p:cNvPr id="13" name="Baris Hak cipta &amp; orisinalitas"/>
          <p:cNvSpPr/>
          <p:nvPr/>
        </p:nvSpPr>
        <p:spPr>
          <a:xfrm>
            <a:off x="4663440" y="2880360"/>
            <a:ext cx="6976872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kon Hak cipta &amp; orisinalitas bg"/>
          <p:cNvSpPr/>
          <p:nvPr/>
        </p:nvSpPr>
        <p:spPr>
          <a:xfrm>
            <a:off x="4937760" y="30632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kon Hak cipta &amp; orisinalitas" descr="Ikon Hak cipta &amp; orisinalit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406" y="3205886"/>
            <a:ext cx="309067" cy="309067"/>
          </a:xfrm>
          <a:prstGeom prst="rect">
            <a:avLst/>
          </a:prstGeom>
        </p:spPr>
      </p:pic>
      <p:sp>
        <p:nvSpPr>
          <p:cNvPr id="16" name="Judul Hak cipta &amp;amp; orisinalitas"/>
          <p:cNvSpPr txBox="1"/>
          <p:nvPr/>
        </p:nvSpPr>
        <p:spPr>
          <a:xfrm>
            <a:off x="5760720" y="29900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Hak cipta &amp; orisinalitas</a:t>
            </a:r>
            <a:endParaRPr lang="en-US" sz="1700" dirty="0"/>
          </a:p>
        </p:txBody>
      </p:sp>
      <p:sp>
        <p:nvSpPr>
          <p:cNvPr id="17" name="Isi Hak cipta &amp;amp; orisinalitas"/>
          <p:cNvSpPr txBox="1"/>
          <p:nvPr/>
        </p:nvSpPr>
        <p:spPr>
          <a:xfrm>
            <a:off x="5760720" y="33192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Jangan menjiplak naskah, musik, atau visual orang lain. Olah dan kembangkan ide sendiri.</a:t>
            </a:r>
            <a:endParaRPr lang="en-US" sz="1400" dirty="0"/>
          </a:p>
        </p:txBody>
      </p:sp>
      <p:sp>
        <p:nvSpPr>
          <p:cNvPr id="18" name="Baris Tidak menyesatkan"/>
          <p:cNvSpPr/>
          <p:nvPr/>
        </p:nvSpPr>
        <p:spPr>
          <a:xfrm>
            <a:off x="4663440" y="3977640"/>
            <a:ext cx="6976872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kon Tidak menyesatkan bg"/>
          <p:cNvSpPr/>
          <p:nvPr/>
        </p:nvSpPr>
        <p:spPr>
          <a:xfrm>
            <a:off x="4937760" y="4160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kon Tidak menyesatkan" descr="Ikon Tidak menyesatk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406" y="4303166"/>
            <a:ext cx="309067" cy="309067"/>
          </a:xfrm>
          <a:prstGeom prst="rect">
            <a:avLst/>
          </a:prstGeom>
        </p:spPr>
      </p:pic>
      <p:sp>
        <p:nvSpPr>
          <p:cNvPr id="21" name="Judul Tidak menyesatkan"/>
          <p:cNvSpPr txBox="1"/>
          <p:nvPr/>
        </p:nvSpPr>
        <p:spPr>
          <a:xfrm>
            <a:off x="5760720" y="40873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Tidak menyesatkan</a:t>
            </a:r>
            <a:endParaRPr lang="en-US" sz="1700" dirty="0"/>
          </a:p>
        </p:txBody>
      </p:sp>
      <p:sp>
        <p:nvSpPr>
          <p:cNvPr id="22" name="Isi Tidak menyesatkan"/>
          <p:cNvSpPr txBox="1"/>
          <p:nvPr/>
        </p:nvSpPr>
        <p:spPr>
          <a:xfrm>
            <a:off x="5760720" y="44165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Hindari hoaks, deepfake, serta meniru wajah atau suara seseorang tanpa izin.</a:t>
            </a:r>
            <a:endParaRPr lang="en-US" sz="1400" dirty="0"/>
          </a:p>
        </p:txBody>
      </p:sp>
      <p:sp>
        <p:nvSpPr>
          <p:cNvPr id="23" name="Baris Transparan"/>
          <p:cNvSpPr/>
          <p:nvPr/>
        </p:nvSpPr>
        <p:spPr>
          <a:xfrm>
            <a:off x="4663440" y="5074920"/>
            <a:ext cx="6976872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kon Transparan bg"/>
          <p:cNvSpPr/>
          <p:nvPr/>
        </p:nvSpPr>
        <p:spPr>
          <a:xfrm>
            <a:off x="4937760" y="52578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kon Transparan" descr="Ikon Transpara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406" y="5400446"/>
            <a:ext cx="309067" cy="309067"/>
          </a:xfrm>
          <a:prstGeom prst="rect">
            <a:avLst/>
          </a:prstGeom>
        </p:spPr>
      </p:pic>
      <p:sp>
        <p:nvSpPr>
          <p:cNvPr id="26" name="Judul Transparan"/>
          <p:cNvSpPr txBox="1"/>
          <p:nvPr/>
        </p:nvSpPr>
        <p:spPr>
          <a:xfrm>
            <a:off x="5760720" y="51846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Transparan</a:t>
            </a:r>
            <a:endParaRPr lang="en-US" sz="1700" dirty="0"/>
          </a:p>
        </p:txBody>
      </p:sp>
      <p:sp>
        <p:nvSpPr>
          <p:cNvPr id="27" name="Isi Transparan"/>
          <p:cNvSpPr txBox="1"/>
          <p:nvPr/>
        </p:nvSpPr>
        <p:spPr>
          <a:xfrm>
            <a:off x="5760720" y="55138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Sebutkan bila sebuah karya dibantu AI, dan tetap bertanggung jawab atas hasil akhirnya.</a:t>
            </a:r>
            <a:endParaRPr lang="en-US" sz="1400" dirty="0"/>
          </a:p>
        </p:txBody>
      </p:sp>
      <p:sp>
        <p:nvSpPr>
          <p:cNvPr id="28" name="Text 0"/>
          <p:cNvSpPr/>
          <p:nvPr>
            <p:ph idx="102" type="body" hasCustomPrompt="1"/>
          </p:nvPr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B2A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REFLEKSI &amp; PENUTUP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Tantangan &amp; LKPD: Iterasi Prompt Produksi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Semakin detail dan jelas instruksi yang diberikan, semakin sesuai hasil dari AI.</a:t>
            </a:r>
            <a:endParaRPr lang="en-US" sz="1600" dirty="0"/>
          </a:p>
        </p:txBody>
      </p:sp>
      <p:sp>
        <p:nvSpPr>
          <p:cNvPr id="5" name="Langkah 1"/>
          <p:cNvSpPr/>
          <p:nvPr/>
        </p:nvSpPr>
        <p:spPr>
          <a:xfrm>
            <a:off x="548640" y="1783080"/>
            <a:ext cx="2066544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Nomor langkah 1"/>
          <p:cNvSpPr/>
          <p:nvPr/>
        </p:nvSpPr>
        <p:spPr>
          <a:xfrm>
            <a:off x="685800" y="1920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Angka langkah 1"/>
          <p:cNvSpPr txBox="1"/>
          <p:nvPr/>
        </p:nvSpPr>
        <p:spPr>
          <a:xfrm>
            <a:off x="6858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Judul langkah 1"/>
          <p:cNvSpPr txBox="1"/>
          <p:nvPr/>
        </p:nvSpPr>
        <p:spPr>
          <a:xfrm>
            <a:off x="1188720" y="19202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Buat Prompt</a:t>
            </a:r>
            <a:endParaRPr lang="en-US" sz="1600" dirty="0"/>
          </a:p>
        </p:txBody>
      </p:sp>
      <p:sp>
        <p:nvSpPr>
          <p:cNvPr id="9" name="Isi langkah 1"/>
          <p:cNvSpPr txBox="1"/>
          <p:nvPr/>
        </p:nvSpPr>
        <p:spPr>
          <a:xfrm>
            <a:off x="685800" y="240487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Tulis prompt sederhana dan jelas</a:t>
            </a:r>
            <a:endParaRPr lang="en-US" sz="1400" dirty="0"/>
          </a:p>
        </p:txBody>
      </p:sp>
      <p:sp>
        <p:nvSpPr>
          <p:cNvPr id="10" name="Langkah 2"/>
          <p:cNvSpPr/>
          <p:nvPr/>
        </p:nvSpPr>
        <p:spPr>
          <a:xfrm>
            <a:off x="2798064" y="1783080"/>
            <a:ext cx="2066544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Nomor langkah 2"/>
          <p:cNvSpPr/>
          <p:nvPr/>
        </p:nvSpPr>
        <p:spPr>
          <a:xfrm>
            <a:off x="2935224" y="192024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Angka langkah 2"/>
          <p:cNvSpPr txBox="1"/>
          <p:nvPr/>
        </p:nvSpPr>
        <p:spPr>
          <a:xfrm>
            <a:off x="2935224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Judul langkah 2"/>
          <p:cNvSpPr txBox="1"/>
          <p:nvPr/>
        </p:nvSpPr>
        <p:spPr>
          <a:xfrm>
            <a:off x="3438144" y="19202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Lihat Hasil</a:t>
            </a:r>
            <a:endParaRPr lang="en-US" sz="1600" dirty="0"/>
          </a:p>
        </p:txBody>
      </p:sp>
      <p:sp>
        <p:nvSpPr>
          <p:cNvPr id="14" name="Isi langkah 2"/>
          <p:cNvSpPr txBox="1"/>
          <p:nvPr/>
        </p:nvSpPr>
        <p:spPr>
          <a:xfrm>
            <a:off x="2935224" y="240487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Evaluasi output AI awal</a:t>
            </a:r>
            <a:endParaRPr lang="en-US" sz="1400" dirty="0"/>
          </a:p>
        </p:txBody>
      </p:sp>
      <p:sp>
        <p:nvSpPr>
          <p:cNvPr id="15" name="Langkah 3"/>
          <p:cNvSpPr/>
          <p:nvPr/>
        </p:nvSpPr>
        <p:spPr>
          <a:xfrm>
            <a:off x="5047488" y="1783080"/>
            <a:ext cx="2066544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Nomor langkah 3"/>
          <p:cNvSpPr/>
          <p:nvPr/>
        </p:nvSpPr>
        <p:spPr>
          <a:xfrm>
            <a:off x="5184648" y="19202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Angka langkah 3"/>
          <p:cNvSpPr txBox="1"/>
          <p:nvPr/>
        </p:nvSpPr>
        <p:spPr>
          <a:xfrm>
            <a:off x="518464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Judul langkah 3"/>
          <p:cNvSpPr txBox="1"/>
          <p:nvPr/>
        </p:nvSpPr>
        <p:spPr>
          <a:xfrm>
            <a:off x="5687568" y="19202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Identifikasi</a:t>
            </a:r>
            <a:endParaRPr lang="en-US" sz="1600" dirty="0"/>
          </a:p>
        </p:txBody>
      </p:sp>
      <p:sp>
        <p:nvSpPr>
          <p:cNvPr id="19" name="Isi langkah 3"/>
          <p:cNvSpPr txBox="1"/>
          <p:nvPr/>
        </p:nvSpPr>
        <p:spPr>
          <a:xfrm>
            <a:off x="5184648" y="240487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Catat kekurangan dan kebutuhan</a:t>
            </a:r>
            <a:endParaRPr lang="en-US" sz="1400" dirty="0"/>
          </a:p>
        </p:txBody>
      </p:sp>
      <p:sp>
        <p:nvSpPr>
          <p:cNvPr id="20" name="Langkah 4"/>
          <p:cNvSpPr/>
          <p:nvPr/>
        </p:nvSpPr>
        <p:spPr>
          <a:xfrm>
            <a:off x="7296912" y="1783080"/>
            <a:ext cx="2066544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Nomor langkah 4"/>
          <p:cNvSpPr/>
          <p:nvPr/>
        </p:nvSpPr>
        <p:spPr>
          <a:xfrm>
            <a:off x="7434072" y="19202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Angka langkah 4"/>
          <p:cNvSpPr txBox="1"/>
          <p:nvPr/>
        </p:nvSpPr>
        <p:spPr>
          <a:xfrm>
            <a:off x="7434072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Judul langkah 4"/>
          <p:cNvSpPr txBox="1"/>
          <p:nvPr/>
        </p:nvSpPr>
        <p:spPr>
          <a:xfrm>
            <a:off x="7936992" y="19202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Perbaiki</a:t>
            </a:r>
            <a:endParaRPr lang="en-US" sz="1600" dirty="0"/>
          </a:p>
        </p:txBody>
      </p:sp>
      <p:sp>
        <p:nvSpPr>
          <p:cNvPr id="24" name="Isi langkah 4"/>
          <p:cNvSpPr txBox="1"/>
          <p:nvPr/>
        </p:nvSpPr>
        <p:spPr>
          <a:xfrm>
            <a:off x="7434072" y="240487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Gunakan R+T+K+F+B untuk optimasi</a:t>
            </a:r>
            <a:endParaRPr lang="en-US" sz="1400" dirty="0"/>
          </a:p>
        </p:txBody>
      </p:sp>
      <p:sp>
        <p:nvSpPr>
          <p:cNvPr id="25" name="Langkah 5"/>
          <p:cNvSpPr/>
          <p:nvPr/>
        </p:nvSpPr>
        <p:spPr>
          <a:xfrm>
            <a:off x="9546336" y="1783080"/>
            <a:ext cx="2066544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Nomor langkah 5"/>
          <p:cNvSpPr/>
          <p:nvPr/>
        </p:nvSpPr>
        <p:spPr>
          <a:xfrm>
            <a:off x="9683496" y="192024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Angka langkah 5"/>
          <p:cNvSpPr txBox="1"/>
          <p:nvPr/>
        </p:nvSpPr>
        <p:spPr>
          <a:xfrm>
            <a:off x="96834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Judul langkah 5"/>
          <p:cNvSpPr txBox="1"/>
          <p:nvPr/>
        </p:nvSpPr>
        <p:spPr>
          <a:xfrm>
            <a:off x="10186416" y="19202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Bandingkan</a:t>
            </a:r>
            <a:endParaRPr lang="en-US" sz="1600" dirty="0"/>
          </a:p>
        </p:txBody>
      </p:sp>
      <p:sp>
        <p:nvSpPr>
          <p:cNvPr id="29" name="Isi langkah 5"/>
          <p:cNvSpPr txBox="1"/>
          <p:nvPr/>
        </p:nvSpPr>
        <p:spPr>
          <a:xfrm>
            <a:off x="9683496" y="2404872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Bandingkan Prompt 1 vs Prompt 2</a:t>
            </a:r>
            <a:endParaRPr lang="en-US" sz="1400" dirty="0"/>
          </a:p>
        </p:txBody>
      </p:sp>
      <p:graphicFrame>
        <p:nvGraphicFramePr>
          <p:cNvPr id="12" name="Tabel LKP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6858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303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Unsur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Jawaban Siswa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41A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A35"/>
                          </a:solidFill>
                        </a:rPr>
                        <a:t>AI harus bertindak sebagai…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41A"/>
                          </a:solidFill>
                        </a:rPr>
                        <a:t>Tugas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A35"/>
                          </a:solidFill>
                        </a:rPr>
                        <a:t>AI harus melakukan…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41A"/>
                          </a:solidFill>
                        </a:rPr>
                        <a:t>Konteks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A35"/>
                          </a:solidFill>
                        </a:rPr>
                        <a:t>Informasi yang perlu diketahui AI…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41A"/>
                          </a:solidFill>
                        </a:rPr>
                        <a:t>Format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A35"/>
                          </a:solidFill>
                        </a:rPr>
                        <a:t>Hasil dalam bentuk…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41A"/>
                          </a:solidFill>
                        </a:rPr>
                        <a:t>Batasan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A35"/>
                          </a:solidFill>
                        </a:rPr>
                        <a:t>AI harus memperhatikan…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Card kesimpulan"/>
          <p:cNvSpPr/>
          <p:nvPr/>
        </p:nvSpPr>
        <p:spPr>
          <a:xfrm>
            <a:off x="7680960" y="3337560"/>
            <a:ext cx="3959352" cy="27432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Ikon kesimpulan bg"/>
          <p:cNvSpPr/>
          <p:nvPr/>
        </p:nvSpPr>
        <p:spPr>
          <a:xfrm>
            <a:off x="7955280" y="35661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3" name="Ikon kesimpulan" descr="Ikon kesimpu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954" y="3697834"/>
            <a:ext cx="285293" cy="285293"/>
          </a:xfrm>
          <a:prstGeom prst="rect">
            <a:avLst/>
          </a:prstGeom>
        </p:spPr>
      </p:pic>
      <p:sp>
        <p:nvSpPr>
          <p:cNvPr id="34" name="Judul kesimpulan"/>
          <p:cNvSpPr txBox="1"/>
          <p:nvPr/>
        </p:nvSpPr>
        <p:spPr>
          <a:xfrm>
            <a:off x="868680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Kesimpulan</a:t>
            </a:r>
            <a:endParaRPr lang="en-US" sz="2000" dirty="0"/>
          </a:p>
        </p:txBody>
      </p:sp>
      <p:sp>
        <p:nvSpPr>
          <p:cNvPr id="35" name="Isi kesimpulan"/>
          <p:cNvSpPr txBox="1"/>
          <p:nvPr/>
        </p:nvSpPr>
        <p:spPr>
          <a:xfrm>
            <a:off x="7955280" y="429768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Gabungkan kelima unsur menjadi satu prompt lengkap, hasilkan karya dari AI, lalu bandingkan dengan prompt awal untuk melihat perbedaan kualitasnya.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B2A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oadcast">
  <a:themeElements>
    <a:clrScheme name="Broadcast">
      <a:dk1>
        <a:srgbClr val="15141A"/>
      </a:dk1>
      <a:lt1>
        <a:srgbClr val="FFFFFF"/>
      </a:lt1>
      <a:dk2>
        <a:srgbClr val="2B2A35"/>
      </a:dk2>
      <a:lt2>
        <a:srgbClr val="F3F1F5"/>
      </a:lt2>
      <a:accent1>
        <a:srgbClr val="E63946"/>
      </a:accent1>
      <a:accent2>
        <a:srgbClr val="F4A261"/>
      </a:accent2>
      <a:accent3>
        <a:srgbClr val="2A9D8F"/>
      </a:accent3>
      <a:accent4>
        <a:srgbClr val="457B9D"/>
      </a:accent4>
      <a:accent5>
        <a:srgbClr val="FFB703"/>
      </a:accent5>
      <a:accent6>
        <a:srgbClr val="8D99AE"/>
      </a:accent6>
      <a:hlink>
        <a:srgbClr val="E63946"/>
      </a:hlink>
      <a:folHlink>
        <a:srgbClr val="8D99AE"/>
      </a:folHlink>
    </a:clrScheme>
    <a:fontScheme name="Broadca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untuk Broadcasting &amp; Perfilman</dc:title>
  <dc:subject>PptxGenJS Presentation</dc:subject>
  <dc:creator>Bams</dc:creator>
  <cp:lastModifiedBy>Bams</cp:lastModifiedBy>
  <cp:revision>1</cp:revision>
  <dcterms:created xsi:type="dcterms:W3CDTF">2026-10-16T01:22:20Z</dcterms:created>
  <dcterms:modified xsi:type="dcterms:W3CDTF">2026-10-16T01:22:20Z</dcterms:modified>
</cp:coreProperties>
</file>