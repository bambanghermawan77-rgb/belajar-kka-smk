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891643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863068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MENJELAJAHI DUNIA PEMROGRAMAN DENGAN PYTHON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71500" y="2908567"/>
            <a:ext cx="3400425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Dari Konsep Dasar hingga Antarmuka Grafis (GUI)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71500" y="3744385"/>
            <a:ext cx="1782366" cy="35361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3744385"/>
            <a:ext cx="1782366" cy="35361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Penyaji: Manus AI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1863068"/>
            <a:ext cx="4572000" cy="3280432"/>
          </a:xfrm>
          <a:prstGeom prst="rect">
            <a:avLst/>
          </a:prstGeom>
          <a:solidFill>
            <a:srgbClr val="FFD43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922" y="2788909"/>
            <a:ext cx="1250156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5116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96541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APA ITU PYTHON?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28625" y="1182291"/>
            <a:ext cx="368617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DEFINISI &amp; FILOSOFI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1668066"/>
            <a:ext cx="36861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Bahasa pemrograman tingkat tinggi yang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interpretatif dan berorientasi objek.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8625" y="2290911"/>
            <a:ext cx="36861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Menekankan keterbacaan kode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(Readability) yang luar biasa.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625" y="2985195"/>
            <a:ext cx="3686175" cy="682228"/>
          </a:xfrm>
          <a:prstGeom prst="rect">
            <a:avLst/>
          </a:prstGeom>
          <a:solidFill>
            <a:srgbClr val="306998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938" y="3128070"/>
            <a:ext cx="32575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"Beautiful is better than ugly. Explicit is better than implicit."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2938" y="3338810"/>
            <a:ext cx="32575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The Zen of Python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00625" y="1182291"/>
            <a:ext cx="37147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SEJARAH &amp; KARAKTERISTIK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00625" y="1668066"/>
            <a:ext cx="371475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Diciptakan oleh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Guido van Rossum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pada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akhir 1980-an.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00625" y="2290911"/>
            <a:ext cx="3714750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Rilis pertama pada tahun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1991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00625" y="2673772"/>
            <a:ext cx="371475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Bersifat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Open-Source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 gratis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digunakan.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00625" y="3296617"/>
            <a:ext cx="371475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Lintas Platform: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Berjalan di Windows,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macOS, dan Linux.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5116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96541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MENGAPA MEMILIH PYTHON?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94792"/>
            <a:ext cx="28575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0094" y="1182291"/>
            <a:ext cx="189454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SINTAKS SEDERHANA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57188" y="1578769"/>
            <a:ext cx="382905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Kode lebih pendek dan mudah dibaca 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dibandingkan C++ atau Java.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57188" y="2090217"/>
            <a:ext cx="382905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Fokus pada penyelesaian masalah, bukan 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kerumitan sintaks.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0" y="896541"/>
            <a:ext cx="4572000" cy="212348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0" y="2991445"/>
            <a:ext cx="4572000" cy="285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19479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64944" y="1182291"/>
            <a:ext cx="1337332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LIBRARY LUAS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929188" y="1578769"/>
            <a:ext cx="385762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Ribuan modul siap pakai untuk AI, Data Science, 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 Web.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929188" y="2090217"/>
            <a:ext cx="385762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Ekosistem "Batteries Included" yang sangat 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lengkap.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0" y="3020020"/>
            <a:ext cx="4572000" cy="212348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7" name="Shape 12"/>
          <p:cNvSpPr/>
          <p:nvPr/>
        </p:nvSpPr>
        <p:spPr>
          <a:xfrm>
            <a:off x="4543425" y="3020020"/>
            <a:ext cx="28575" cy="212348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3318272"/>
            <a:ext cx="257175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1519" y="3305770"/>
            <a:ext cx="2117452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POPULER DI INDUSTRI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57188" y="3702248"/>
            <a:ext cx="385762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Standar industri untuk Google, NASA, Netflix, 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 Spotify.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57188" y="4213696"/>
            <a:ext cx="385762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Permintaan pasar kerja yang sangat tinggi 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secara global.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318272"/>
            <a:ext cx="28575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22094" y="3305770"/>
            <a:ext cx="2005998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DUKUNGAN KOMUNITAS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929188" y="3702248"/>
            <a:ext cx="385762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Komunitas global yang aktif membantu pemula.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929188" y="3993691"/>
            <a:ext cx="385762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Tutorial dan dokumentasi yang melimpah di 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5116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96541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INSTALASI &amp; LINGKUNGAN KERJA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28625" y="1182291"/>
            <a:ext cx="368617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LANGKAH INSTALASI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1668066"/>
            <a:ext cx="3686175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Unduh installer resmi di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python.org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8625" y="2086645"/>
            <a:ext cx="3686175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Pilih versi terbaru (Python 3.x).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625" y="2505224"/>
            <a:ext cx="3686175" cy="59293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2648099"/>
            <a:ext cx="34004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PENTING: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Centang opsi </a:t>
            </a: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"Add Python to PATH"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saat instalasi 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agar Python bisa diakses dari terminal/CMD.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896541"/>
            <a:ext cx="4572000" cy="4246959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12" name="Text 9"/>
          <p:cNvSpPr/>
          <p:nvPr/>
        </p:nvSpPr>
        <p:spPr>
          <a:xfrm>
            <a:off x="5000625" y="1182291"/>
            <a:ext cx="37147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PILIHAN IDE / EDITOR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763055"/>
            <a:ext cx="28575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9250" y="1668066"/>
            <a:ext cx="2546747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VS Code: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Ringan &amp; Populer.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2324509"/>
            <a:ext cx="28575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29250" y="2229520"/>
            <a:ext cx="2461022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PyCharm: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 Profesional.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2885963"/>
            <a:ext cx="28575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29250" y="2790974"/>
            <a:ext cx="2603897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IDLE: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Editor Bawaan Python.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3447417"/>
            <a:ext cx="28575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29250" y="3352428"/>
            <a:ext cx="2703909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Jupyter: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Untuk Data Science.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5116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96541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SINTAKS DAN TIPE DATA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28625" y="1182291"/>
            <a:ext cx="327049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VARIABEL &amp; TIPE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1668066"/>
            <a:ext cx="327049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Variabel: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Tidak perlu deklarasi tipe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secara eksplisit.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8625" y="2290911"/>
            <a:ext cx="3270498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int: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Bilangan bulat (contoh: 10, -5).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2673772"/>
            <a:ext cx="327049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float: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Bilangan desimal (contoh: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3.14, 2.0).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8625" y="3296617"/>
            <a:ext cx="327049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str: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Teks atau string (contoh: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"Halo").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8625" y="3919463"/>
            <a:ext cx="3270498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bool: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Nilai logika (True atau False).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84948" y="1182291"/>
            <a:ext cx="413042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CONTOH IMPLEMENTASI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84948" y="1668066"/>
            <a:ext cx="4130427" cy="2497187"/>
          </a:xfrm>
          <a:prstGeom prst="rect">
            <a:avLst/>
          </a:prstGeom>
          <a:solidFill>
            <a:srgbClr val="000000"/>
          </a:solidFill>
          <a:ln w="27432">
            <a:solidFill>
              <a:srgbClr val="30699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84948" y="1668066"/>
            <a:ext cx="4130427" cy="2497187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# Mendefinisikan variabel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nama = </a:t>
            </a:r>
            <a:r>
              <a:rPr lang="en-US" sz="115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"Manus"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umur = </a:t>
            </a:r>
            <a:r>
              <a:rPr lang="en-US" sz="1150" dirty="0">
                <a:solidFill>
                  <a:srgbClr val="569CD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5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tinggi = </a:t>
            </a:r>
            <a:r>
              <a:rPr lang="en-US" sz="1150" dirty="0">
                <a:solidFill>
                  <a:srgbClr val="569CD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175.5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is_active = </a:t>
            </a:r>
            <a:r>
              <a:rPr lang="en-US" sz="1150" dirty="0">
                <a:solidFill>
                  <a:srgbClr val="569CD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True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</a:t>
            </a:r>
            <a:r>
              <a:rPr lang="en-US" sz="1150" dirty="0">
                <a:solidFill>
                  <a:srgbClr val="6A99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# Mencetak ke layar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150" dirty="0">
                <a:solidFill>
                  <a:srgbClr val="569CD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print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(f</a:t>
            </a:r>
            <a:r>
              <a:rPr lang="en-US" sz="115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"Halo, saya {nama}"</a:t>
            </a:r>
            <a:r>
              <a:rPr lang="en-US" sz="11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5116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96541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STRUKTUR KONTROL: LOGIKA PROGRAM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12652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2925" y="1182291"/>
            <a:ext cx="113161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PERCABANGAN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85750" y="1593056"/>
            <a:ext cx="24479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Menggunakan </a:t>
            </a: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elif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dan </a:t>
            </a: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else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85750" y="1900238"/>
            <a:ext cx="24479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Mengambil keputusan 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berdasarkan kondisi Boolean.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85750" y="2478881"/>
            <a:ext cx="2447906" cy="857250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5750" y="2478881"/>
            <a:ext cx="2447906" cy="85725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if umur &gt;= 18:</a:t>
            </a:r>
            <a:r>
              <a:rPr lang="en-US" sz="8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8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print("Dewasa")</a:t>
            </a:r>
            <a:r>
              <a:rPr lang="en-US" sz="8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8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else:</a:t>
            </a:r>
            <a:r>
              <a:rPr lang="en-US" sz="8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8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print("Anak-anak")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047981" y="896541"/>
            <a:ext cx="3047981" cy="4246959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3" name="Shape 9"/>
          <p:cNvSpPr/>
          <p:nvPr/>
        </p:nvSpPr>
        <p:spPr>
          <a:xfrm>
            <a:off x="6067388" y="896541"/>
            <a:ext cx="28575" cy="4246959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31" y="1212652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90906" y="1182291"/>
            <a:ext cx="102875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PERULANGAN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333731" y="1593056"/>
            <a:ext cx="24764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For: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Iterasi pada urutan (list, 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range).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333731" y="2100263"/>
            <a:ext cx="24764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While: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Berjalan selama kondisi 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333731" y="2678906"/>
            <a:ext cx="2476481" cy="550069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333731" y="2678906"/>
            <a:ext cx="2476481" cy="55006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for i in range(3):</a:t>
            </a:r>
            <a:r>
              <a:rPr lang="en-US" sz="8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8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print(f"Iterasi {i}")</a:t>
            </a:r>
            <a:endParaRPr lang="en-US" sz="8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13" y="1212652"/>
            <a:ext cx="150019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17457" y="1182291"/>
            <a:ext cx="92584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INDENTASI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381713" y="1593056"/>
            <a:ext cx="24764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 menggunakan spasi 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 blok kode.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381713" y="2100263"/>
            <a:ext cx="24764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Tidak menggunakan kurung 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kurawal { }.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381713" y="2607469"/>
            <a:ext cx="24764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Standar: 4 spasi per level 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indentasi.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381713" y="3186113"/>
            <a:ext cx="24764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30699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000" b="1" dirty="0">
                <a:solidFill>
                  <a:srgbClr val="30699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Kesalahan indentasi akan </a:t>
            </a:r>
            <a:r>
              <a:rPr lang="en-US" sz="1000" b="1" dirty="0">
                <a:solidFill>
                  <a:srgbClr val="30699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menyebabkan IndentationError!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67966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39391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CONTOH PROGRAM: KALKULATOR SEDERHANA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28625" y="1125141"/>
            <a:ext cx="327049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LOGIKA PROGRAM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1621631"/>
            <a:ext cx="1571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0088" y="1621631"/>
            <a:ext cx="4464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6572" y="1621631"/>
            <a:ext cx="20645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Mengambil data angka dari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8625" y="1845208"/>
            <a:ext cx="24003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 menggunakan fungsi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828925" y="1830921"/>
            <a:ext cx="66012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B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input()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489052" y="1845208"/>
            <a:ext cx="464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28625" y="2243807"/>
            <a:ext cx="1571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00088" y="2243807"/>
            <a:ext cx="7286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Konversi: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428750" y="2243807"/>
            <a:ext cx="223956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Mengubah teks input menjadi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28625" y="2467384"/>
            <a:ext cx="68937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tipe data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17997" y="2453097"/>
            <a:ext cx="471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B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float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589484" y="2467384"/>
            <a:ext cx="14180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agar bisa dihitung.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28625" y="2855268"/>
            <a:ext cx="327049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Proses: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Melakukan operasi aritmatika 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penjumlahan (+).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8625" y="3473872"/>
            <a:ext cx="3270498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Output: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Menampilkan hasil akhir 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menggunakan f-string untuk format teks </a:t>
            </a:r>
            <a:r>
              <a:rPr lang="en-US" sz="11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yang rapi.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84948" y="1125141"/>
            <a:ext cx="413042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KODE SUMBER (PYTHON)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84948" y="1610916"/>
            <a:ext cx="4130427" cy="3228975"/>
          </a:xfrm>
          <a:prstGeom prst="rect">
            <a:avLst/>
          </a:prstGeom>
          <a:solidFill>
            <a:srgbClr val="172B4D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84948" y="1610916"/>
            <a:ext cx="4130427" cy="3228975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# Meminta input dari pengguna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angka1 = </a:t>
            </a:r>
            <a:r>
              <a:rPr lang="en-US" sz="1050" dirty="0">
                <a:solidFill>
                  <a:srgbClr val="B392F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float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(</a:t>
            </a:r>
            <a:r>
              <a:rPr lang="en-US" sz="1050" dirty="0">
                <a:solidFill>
                  <a:srgbClr val="B392F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(</a:t>
            </a:r>
            <a:r>
              <a:rPr lang="en-US" sz="1050" dirty="0">
                <a:solidFill>
                  <a:srgbClr val="9ECB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"Masukkan angka </a:t>
            </a:r>
            <a:r>
              <a:rPr lang="en-US" sz="1050" dirty="0">
                <a:solidFill>
                  <a:srgbClr val="9ECB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pertama: "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))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angka2 = </a:t>
            </a:r>
            <a:r>
              <a:rPr lang="en-US" sz="1050" dirty="0">
                <a:solidFill>
                  <a:srgbClr val="B392F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float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(</a:t>
            </a:r>
            <a:r>
              <a:rPr lang="en-US" sz="1050" dirty="0">
                <a:solidFill>
                  <a:srgbClr val="B392F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(</a:t>
            </a:r>
            <a:r>
              <a:rPr lang="en-US" sz="1050" dirty="0">
                <a:solidFill>
                  <a:srgbClr val="9ECB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"Masukkan angka </a:t>
            </a:r>
            <a:r>
              <a:rPr lang="en-US" sz="1050" dirty="0">
                <a:solidFill>
                  <a:srgbClr val="9ECB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kedua: "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))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050" dirty="0">
                <a:solidFill>
                  <a:srgbClr val="6A737D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# Menghitung hasil penjumlahan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hasil = angka1 + angka2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050" dirty="0">
                <a:solidFill>
                  <a:srgbClr val="6A737D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# Menampilkan hasil ke layar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1050" dirty="0">
                <a:solidFill>
                  <a:srgbClr val="B392F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print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(</a:t>
            </a:r>
            <a:r>
              <a:rPr lang="en-US" sz="1050" dirty="0">
                <a:solidFill>
                  <a:srgbClr val="9ECB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f"Hasil dari {angka1} + {angka2} </a:t>
            </a:r>
            <a:r>
              <a:rPr lang="en-US" sz="1050" dirty="0">
                <a:solidFill>
                  <a:srgbClr val="9ECB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adalah {hasil}"</a:t>
            </a:r>
            <a:r>
              <a:rPr lang="en-US" sz="10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5116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96541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MENGENAL TKINTER: GUI PYTHON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28625" y="1182291"/>
            <a:ext cx="368617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APA ITU TKINTER?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1668066"/>
            <a:ext cx="36861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Library standar Python untuk membuat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Graphical User Interface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(GUI).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8625" y="2290911"/>
            <a:ext cx="36861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Built-in: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Tidak perlu instalasi tambahan,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sudah ada saat menginstal Python.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2913757"/>
            <a:ext cx="36861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Ringan: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Sangat cepat dan efisien untuk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aplikasi desktop sederhana.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8625" y="3536603"/>
            <a:ext cx="36861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Cross-Platform: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Tampilan menyesuaikan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operasi (Windows, Mac, Linux).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00625" y="1182291"/>
            <a:ext cx="37147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KOMPONEN UTAMA (WIDGETS)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00625" y="1668066"/>
            <a:ext cx="3714750" cy="628650"/>
          </a:xfrm>
          <a:prstGeom prst="rect">
            <a:avLst/>
          </a:prstGeom>
          <a:solidFill>
            <a:srgbClr val="FFD43B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860947"/>
            <a:ext cx="189309" cy="2143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75684" y="1775222"/>
            <a:ext cx="30968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LABEL: Menampilkan teks atau gambar statis.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00625" y="2446734"/>
            <a:ext cx="3714750" cy="628650"/>
          </a:xfrm>
          <a:prstGeom prst="rect">
            <a:avLst/>
          </a:prstGeom>
          <a:solidFill>
            <a:srgbClr val="FFD43B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639616"/>
            <a:ext cx="135731" cy="2143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22106" y="2553891"/>
            <a:ext cx="31503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BUTTON: Tombol untuk memicu aksi/fungsi.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00625" y="3225403"/>
            <a:ext cx="3714750" cy="457200"/>
          </a:xfrm>
          <a:prstGeom prst="rect">
            <a:avLst/>
          </a:prstGeom>
          <a:solidFill>
            <a:srgbClr val="FFD43B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32559"/>
            <a:ext cx="242888" cy="2143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29263" y="3343275"/>
            <a:ext cx="270748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ENTRY: Kotak input teks satu baris.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000625" y="3832622"/>
            <a:ext cx="3714750" cy="628650"/>
          </a:xfrm>
          <a:prstGeom prst="rect">
            <a:avLst/>
          </a:prstGeom>
          <a:solidFill>
            <a:srgbClr val="FFD43B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4025503"/>
            <a:ext cx="214313" cy="21431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00688" y="3939778"/>
            <a:ext cx="3071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FRAME: Kontainer untuk mengelompokkan widget.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67966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39391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TKINTER: HELLO WORLD GUI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57188" y="1125141"/>
            <a:ext cx="3232658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ALUR PROGRAM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57188" y="1571625"/>
            <a:ext cx="1393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2931" y="1571625"/>
            <a:ext cx="5107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3709" y="1571625"/>
            <a:ext cx="14358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Memasukkan modul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39603" y="1557338"/>
            <a:ext cx="60007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B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tkinter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139678" y="1571625"/>
            <a:ext cx="1964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7188" y="1771650"/>
            <a:ext cx="8215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dalam skrip.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7188" y="2068116"/>
            <a:ext cx="32326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Root: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Membuat jendela utama aplikasi.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7188" y="2375297"/>
            <a:ext cx="32326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Widgets: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Menambahkan Label dan Button 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 dalam jendela.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7188" y="2896791"/>
            <a:ext cx="1393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2931" y="2896791"/>
            <a:ext cx="5214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Layout: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14425" y="2896791"/>
            <a:ext cx="10465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Menggunakan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160984" y="2882503"/>
            <a:ext cx="5143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B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pack()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675334" y="2896791"/>
            <a:ext cx="4214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57188" y="3096816"/>
            <a:ext cx="16787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menyusun posisi widget.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7188" y="3393281"/>
            <a:ext cx="32326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Mainloop: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Menjalankan aplikasi agar </a:t>
            </a:r>
            <a:r>
              <a:rPr lang="en-US" sz="10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jendela tetap terbuka.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332796" y="1125141"/>
            <a:ext cx="4453961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KODE SUMBER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332796" y="1557338"/>
            <a:ext cx="4453961" cy="3307556"/>
          </a:xfrm>
          <a:prstGeom prst="rect">
            <a:avLst/>
          </a:prstGeom>
          <a:solidFill>
            <a:srgbClr val="000000"/>
          </a:solidFill>
          <a:ln w="27432">
            <a:solidFill>
              <a:srgbClr val="30699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32796" y="1557338"/>
            <a:ext cx="4453961" cy="3307556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import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tkinter </a:t>
            </a:r>
            <a:r>
              <a:rPr lang="en-US" sz="950" dirty="0">
                <a:solidFill>
                  <a:srgbClr val="569CD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as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tk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def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</a:t>
            </a:r>
            <a:r>
              <a:rPr lang="en-US" sz="950" dirty="0">
                <a:solidFill>
                  <a:srgbClr val="DCDCA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sapa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():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label.config(text=</a:t>
            </a:r>
            <a:r>
              <a:rPr lang="en-US" sz="95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"Halo Python!"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root = tk.Tk()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root.title(</a:t>
            </a:r>
            <a:r>
              <a:rPr lang="en-US" sz="95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"My App"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label = tk.Label(root, text=</a:t>
            </a:r>
            <a:r>
              <a:rPr lang="en-US" sz="95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"Klik Tombol"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label.pack(pady=</a:t>
            </a:r>
            <a:r>
              <a:rPr lang="en-US" sz="950" dirty="0">
                <a:solidFill>
                  <a:srgbClr val="569CD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10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btn = tk.Button(root, text=</a:t>
            </a:r>
            <a:r>
              <a:rPr lang="en-US" sz="95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"Klik"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, command=sapa)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btn.pack()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95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root.mainloop()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5116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96541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APLIKASI TKINTER: INPUT SEDERHANA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28625" y="1182291"/>
            <a:ext cx="368617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ALUR KERJA APLIKASI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1682353"/>
            <a:ext cx="16787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7947" y="1682353"/>
            <a:ext cx="48934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294" y="1682353"/>
            <a:ext cx="233957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 mengetikkan teks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8625" y="1922338"/>
            <a:ext cx="254674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(misal: Nama) ke dalam widget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975372" y="1911623"/>
            <a:ext cx="51440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Entry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489778" y="1922338"/>
            <a:ext cx="50006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28625" y="2340918"/>
            <a:ext cx="16787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7947" y="2340918"/>
            <a:ext cx="42862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Aksi: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6572" y="2340918"/>
            <a:ext cx="170378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 menekan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50356" y="2330202"/>
            <a:ext cx="61726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Button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467621" y="2340918"/>
            <a:ext cx="50006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28625" y="2580903"/>
            <a:ext cx="212169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memproses data tersebut.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28625" y="2999482"/>
            <a:ext cx="16787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17947" y="2999482"/>
            <a:ext cx="639366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357313" y="2999482"/>
            <a:ext cx="242530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mengambil teks dari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28625" y="3239467"/>
            <a:ext cx="268962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 dan menampilkannya pada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118247" y="3228752"/>
            <a:ext cx="51440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Label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632653" y="3239467"/>
            <a:ext cx="50006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28625" y="3643759"/>
            <a:ext cx="3686175" cy="7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Interaktivitas: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Memberikan pengalaman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 yang lebih dinamis dibandingkan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0" y="896541"/>
            <a:ext cx="4572000" cy="4246959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27" name="Text 24"/>
          <p:cNvSpPr/>
          <p:nvPr/>
        </p:nvSpPr>
        <p:spPr>
          <a:xfrm>
            <a:off x="5000625" y="1182291"/>
            <a:ext cx="37147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VISUALISASI KOMPONEN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000625" y="1668066"/>
            <a:ext cx="371475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810941"/>
            <a:ext cx="228600" cy="2286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514975" y="1837730"/>
            <a:ext cx="212526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ENTRY: Tempat Mengetik Data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000625" y="2325291"/>
            <a:ext cx="371475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468166"/>
            <a:ext cx="200025" cy="2286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486400" y="2494955"/>
            <a:ext cx="256817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BUTTON: Pemicu Fungsi (Command)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000625" y="2982516"/>
            <a:ext cx="371475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125391"/>
            <a:ext cx="228600" cy="2286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514975" y="3152180"/>
            <a:ext cx="24003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LABEL: Menampilkan Hasil Sapaan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000625" y="3639741"/>
            <a:ext cx="3714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0699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Metode .get() digunakan untuk mengambil nilai dari Entry, dan .config() untuk mengubah teks pada Label.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229600" cy="4629150"/>
          </a:xfrm>
          <a:prstGeom prst="rect">
            <a:avLst/>
          </a:prstGeom>
          <a:solidFill>
            <a:srgbClr val="F4F5F7"/>
          </a:solidFill>
          <a:ln w="1828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8229600" cy="546497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17922"/>
            <a:ext cx="82296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257175" y="128588"/>
            <a:ext cx="4282014" cy="31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PROYEK: APLIKASI KASIR TKINTER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92881" y="649367"/>
            <a:ext cx="2740270" cy="17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FITUR PROGRAM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92881" y="916186"/>
            <a:ext cx="2740270" cy="267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[1]</a:t>
            </a:r>
            <a:r>
              <a:rPr lang="en-US" sz="850" dirty="0">
                <a:solidFill>
                  <a:srgbClr val="0F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b="1" dirty="0">
                <a:solidFill>
                  <a:srgbClr val="0F172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Entry Widget:</a:t>
            </a:r>
            <a:r>
              <a:rPr lang="en-US" sz="850" dirty="0">
                <a:solidFill>
                  <a:srgbClr val="0F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Mengambil input harga dan jumlah </a:t>
            </a:r>
            <a:r>
              <a:rPr lang="en-US" sz="850" dirty="0">
                <a:solidFill>
                  <a:srgbClr val="0F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barang dari pengguna.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92881" y="1247901"/>
            <a:ext cx="2740270" cy="267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[2]</a:t>
            </a:r>
            <a:r>
              <a:rPr lang="en-US" sz="850" dirty="0">
                <a:solidFill>
                  <a:srgbClr val="0F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b="1" dirty="0">
                <a:solidFill>
                  <a:srgbClr val="0F172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Logika Hitung:</a:t>
            </a:r>
            <a:r>
              <a:rPr lang="en-US" sz="850" dirty="0">
                <a:solidFill>
                  <a:srgbClr val="0F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Fungsi untuk mengalikan harga × </a:t>
            </a:r>
            <a:r>
              <a:rPr lang="en-US" sz="850" dirty="0">
                <a:solidFill>
                  <a:srgbClr val="0F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jumlah.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92881" y="1579617"/>
            <a:ext cx="2740270" cy="267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[3]</a:t>
            </a:r>
            <a:r>
              <a:rPr lang="en-US" sz="850" dirty="0">
                <a:solidFill>
                  <a:srgbClr val="0F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b="1" dirty="0">
                <a:solidFill>
                  <a:srgbClr val="0F172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Formatting:</a:t>
            </a:r>
            <a:r>
              <a:rPr lang="en-US" sz="850" dirty="0">
                <a:solidFill>
                  <a:srgbClr val="0F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Menampilkan hasil dengan format </a:t>
            </a:r>
            <a:r>
              <a:rPr lang="en-US" sz="850" dirty="0">
                <a:solidFill>
                  <a:srgbClr val="0F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mata uang Rupiah.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92881" y="1911333"/>
            <a:ext cx="2740270" cy="133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[4]</a:t>
            </a:r>
            <a:r>
              <a:rPr lang="en-US" sz="850" dirty="0">
                <a:solidFill>
                  <a:srgbClr val="0F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b="1" dirty="0">
                <a:solidFill>
                  <a:srgbClr val="0F172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Button:</a:t>
            </a:r>
            <a:r>
              <a:rPr lang="en-US" sz="850" dirty="0">
                <a:solidFill>
                  <a:srgbClr val="0F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Memicu fungsi perhitungan saat diklik.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344631" y="649367"/>
            <a:ext cx="4692088" cy="17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KODE IMPLEMENTASI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44631" y="916186"/>
            <a:ext cx="4692088" cy="2812450"/>
          </a:xfrm>
          <a:prstGeom prst="rect">
            <a:avLst/>
          </a:prstGeom>
          <a:solidFill>
            <a:srgbClr val="000000"/>
          </a:solidFill>
          <a:ln w="27432">
            <a:solidFill>
              <a:srgbClr val="30699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44631" y="916186"/>
            <a:ext cx="4692088" cy="281245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69CD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import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tkinter </a:t>
            </a:r>
            <a:r>
              <a:rPr lang="en-US" sz="600" dirty="0">
                <a:solidFill>
                  <a:srgbClr val="569CD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as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tk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600" dirty="0">
                <a:solidFill>
                  <a:srgbClr val="569CD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def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</a:t>
            </a:r>
            <a:r>
              <a:rPr lang="en-US" sz="600" dirty="0">
                <a:solidFill>
                  <a:srgbClr val="DCDCA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hitung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():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   harga = </a:t>
            </a:r>
            <a:r>
              <a:rPr lang="en-US" sz="600" dirty="0">
                <a:solidFill>
                  <a:srgbClr val="DCDCA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int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(input_harga.get())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   jumlah = </a:t>
            </a:r>
            <a:r>
              <a:rPr lang="en-US" sz="600" dirty="0">
                <a:solidFill>
                  <a:srgbClr val="DCDCA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int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(input_jumlah.get())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   total = harga * jumlah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    hasil.config(text=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f"Total Bayar: Rp {total:,}"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.replace(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","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, 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"."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window = tk.Tk()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window.title(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"Kasir Sederhana"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window.geometry(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"300x300"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tk.Label(window, text=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"KASIR SEDERHANA"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, font=(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"Arial"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, 16, 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"bold"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)).pack(pady=15)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tk.Label(window, text=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"Harga Barang"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).pack()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input_harga = tk.Entry(window)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input_harga.pack()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tk.Label(window, text=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"Jumlah Barang"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).pack()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input_jumlah = tk.Entry(window)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input_jumlah.pack()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tk.Button(window, text=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"HITUNG TOTAL"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, command=hitung).pack(pady=15)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hasil = tk.Label(window, text=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"Total Bayar: Rp 0"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, font=(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"Arial"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, 12, </a:t>
            </a:r>
            <a:r>
              <a:rPr lang="en-US" sz="600" dirty="0">
                <a:solidFill>
                  <a:srgbClr val="CE917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"bold"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))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hasil.pack()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
</a:t>
            </a:r>
            <a:r>
              <a:rPr lang="en-US" sz="60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window.mainloop()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5116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96541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KESIMPULAN &amp; LANGKAH SELANJUTNYA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0" y="896541"/>
            <a:ext cx="4572000" cy="4246959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7" name="Shape 4"/>
          <p:cNvSpPr/>
          <p:nvPr/>
        </p:nvSpPr>
        <p:spPr>
          <a:xfrm>
            <a:off x="4543425" y="896541"/>
            <a:ext cx="28575" cy="424695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182291"/>
            <a:ext cx="37147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RINGKASAN MATERI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8625" y="1668066"/>
            <a:ext cx="371475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 adalah bahasa yang ramah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pemula namun sangat powerful.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8625" y="2326630"/>
            <a:ext cx="371475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Memiliki ekosistem library yang luas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untuk berbagai kebutuhan industri.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8625" y="2985195"/>
            <a:ext cx="371475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Tkinter memudahkan pembuatan aplikasi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(GUI) secara cepat.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00625" y="1182291"/>
            <a:ext cx="37147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APA SETELAH INI?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00625" y="1668066"/>
            <a:ext cx="371475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Pelajari struktur data kompleks (List,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Dictionary, Set).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00625" y="2326630"/>
            <a:ext cx="371475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Eksplorasi Pemrograman Berorientasi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Objek (OOP).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00625" y="2985195"/>
            <a:ext cx="371475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 ]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Coba buat proyek kecil seperti Todo-List </a:t>
            </a:r>
            <a:r>
              <a:rPr lang="en-US" sz="1250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atau Game sederhana.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00625" y="3643759"/>
            <a:ext cx="3714750" cy="939403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3800921"/>
            <a:ext cx="160734" cy="1428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4234" y="3786634"/>
            <a:ext cx="11358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0699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Sumber Belajar: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143500" y="4033093"/>
            <a:ext cx="342900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069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Dokumentasi Resmi, Kursus Online, &amp; Latihan di LeetCode/Codewars.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807369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778794"/>
            <a:ext cx="914400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150" b="1" spc="-2" kern="0" dirty="0">
                <a:solidFill>
                  <a:srgbClr val="FFD43B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TERIMA KASIH!</a:t>
            </a:r>
            <a:endParaRPr lang="en-US" sz="4150" dirty="0"/>
          </a:p>
        </p:txBody>
      </p:sp>
      <p:sp>
        <p:nvSpPr>
          <p:cNvPr id="6" name="Shape 3"/>
          <p:cNvSpPr/>
          <p:nvPr/>
        </p:nvSpPr>
        <p:spPr>
          <a:xfrm>
            <a:off x="571500" y="2771440"/>
            <a:ext cx="3816046" cy="1807983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7250" y="3085765"/>
            <a:ext cx="3244546" cy="84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172B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"Programming is not about what you know; it's about what you can figure out."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7250" y="4068645"/>
            <a:ext cx="324454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0699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— Chris Pine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87621" y="1778794"/>
            <a:ext cx="4156379" cy="3364706"/>
          </a:xfrm>
          <a:prstGeom prst="rect">
            <a:avLst/>
          </a:prstGeom>
          <a:solidFill>
            <a:srgbClr val="FFD43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121" y="2934295"/>
            <a:ext cx="28575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87746" y="2943225"/>
            <a:ext cx="82867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manus.im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121" y="3377208"/>
            <a:ext cx="28575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87746" y="3386138"/>
            <a:ext cx="92868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python.org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559121" y="3962995"/>
            <a:ext cx="2480332" cy="4536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0"/>
          <p:cNvSpPr/>
          <p:nvPr/>
        </p:nvSpPr>
        <p:spPr>
          <a:xfrm>
            <a:off x="5559121" y="3962995"/>
            <a:ext cx="2480332" cy="45362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SESI TANYA JAWAB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2026-10-14T14:03:15Z</dcterms:created>
  <dcterms:modified xsi:type="dcterms:W3CDTF">2026-10-14T14:03:15Z</dcterms:modified>
</cp:coreProperties>
</file>